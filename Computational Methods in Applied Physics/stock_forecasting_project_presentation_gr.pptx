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82" r:id="rId7"/>
    <p:sldId id="260" r:id="rId8"/>
    <p:sldId id="261" r:id="rId9"/>
    <p:sldId id="262" r:id="rId10"/>
    <p:sldId id="263" r:id="rId11"/>
    <p:sldId id="264" r:id="rId12"/>
    <p:sldId id="265" r:id="rId13"/>
    <p:sldId id="266" r:id="rId14"/>
    <p:sldId id="267" r:id="rId15"/>
    <p:sldId id="268" r:id="rId16"/>
    <p:sldId id="272" r:id="rId17"/>
    <p:sldId id="273" r:id="rId18"/>
    <p:sldId id="274" r:id="rId19"/>
    <p:sldId id="275" r:id="rId20"/>
    <p:sldId id="276" r:id="rId21"/>
    <p:sldId id="277" r:id="rId22"/>
    <p:sldId id="278" r:id="rId23"/>
    <p:sldId id="279" r:id="rId24"/>
    <p:sldId id="280" r:id="rId25"/>
    <p:sldId id="281" r:id="rId26"/>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Σε αυτή την εργασία ασχολούμαι με την πρόβλεψη χρηματιστηριακών τιμών χρησιμοποιώντας νευρωνικά δίκτυα.</a:t>
            </a:r>
            <a:endParaRPr lang="en-US" altLang="en-US" dirty="0"/>
          </a:p>
          <a:p>
            <a:r>
              <a:rPr lang="en-US" altLang="en-US" dirty="0"/>
              <a:t>Ο στόχος δεν είναι απλώς να προβλέψω μία τιμή, για παράδειγμα την τιμή της επόμενης ημέρας, αλλά να δημιουργήσω μία ολόκληρη μελλοντική καμπύλη πρόβλεψης.</a:t>
            </a:r>
            <a:endParaRPr lang="en-US" altLang="en-US" dirty="0"/>
          </a:p>
          <a:p>
            <a:endParaRPr lang="en-US" altLang="en-US" dirty="0"/>
          </a:p>
          <a:p>
            <a:r>
              <a:rPr lang="en-US" altLang="en-US" dirty="0"/>
              <a:t>Το project χρησιμοποιεί ιστορικά δεδομένα μετοχών ή ETFs, υπολογίζει τεχνικούς δείκτες και στη συνέχεια εκπαιδεύει διαφορετικά μοντέλα, όπως CNN, TDNN και CNN-LSTM.</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Σε αυτό το slide φαίνεται η συνολική ροή του project.</a:t>
            </a:r>
            <a:endParaRPr lang="en-US" altLang="en-US" dirty="0"/>
          </a:p>
          <a:p>
            <a:r>
              <a:rPr lang="en-US" altLang="en-US" dirty="0"/>
              <a:t>Ξεκινάμε από ιστορικά χρηματιστηριακά δεδομένα, δηλαδή Open, High, Low, Close και Volume. Από αυτά δεν χρησιμοποιούμε μόνο τις αρχικές τιμές, αλλά φτιάχνουμε και τεχνικούς δείκτες.</a:t>
            </a:r>
            <a:endParaRPr lang="en-US" altLang="en-US" dirty="0"/>
          </a:p>
          <a:p>
            <a:endParaRPr lang="en-US" altLang="en-US" dirty="0"/>
          </a:p>
          <a:p>
            <a:r>
              <a:rPr lang="en-US" altLang="en-US" dirty="0"/>
              <a:t>Στη συνέχεια, τα δεδομένα μετατρέπονται σε παράθυρα εισόδου. Στο project χρησιμοποιώ παράθυρο 60 ημερών. Δηλαδή το μοντέλο δεν βλέπει μία μόνο ημέρα, αλλά τις τελευταίες 60 χρηματιστηριακές ημέρες.</a:t>
            </a:r>
            <a:endParaRPr lang="en-US" altLang="en-US" dirty="0"/>
          </a:p>
          <a:p>
            <a:endParaRPr lang="en-US" altLang="en-US" dirty="0"/>
          </a:p>
          <a:p>
            <a:r>
              <a:rPr lang="en-US" altLang="en-US" dirty="0"/>
              <a:t>Αυτό το παράθυρο περνάει στα νευρωνικά μοντέλα και τελικά παράγεται μία ημερήσια μελλοντική καμπύλη πρόβλεψης.</a:t>
            </a:r>
            <a:endParaRPr lang="en-US" altLang="en-US" dirty="0"/>
          </a:p>
          <a:p>
            <a:r>
              <a:rPr lang="en-US" altLang="en-US" dirty="0"/>
              <a:t>Μαθηματικά, το input έχει μορφή (X_t \in \mathbb{R}^{L \times d}), όπου (L) είναι οι ημέρες και (d) τα χαρακτηριστικά ανά ημέρα. Το output είναι (\hat{y}_t \in \mathbb{R}^{H}), δηλαδή ένα διάνυσμα μελλοντικών προβλέψεων.</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Σημειώσεις ομιλητή:
Σε αυτό το slide εξηγώ τι μπαίνει στο μοντέλο ως input. Δεν χρησιμοποιώ μόνο την τιμή κλεισίματος, αλλά φτιάχνω ένα σύνολο χαρακτηριστικών για κάθε ημέρα. Τα αρχικά δεδομένα είναι Open, High, Low, Close και Volume. Από αυτά υπολογίζω αποδόσεις, κινητούς μέσους όρους και τεχνικούς δείκτες. Το RSI υπολογίζεται από τα μέσα κέρδη και τις μέσες ζημιές των τελευταίων ημερών. Το MACD είναι η διαφορά δύο εκθετικών κινητών μέσων όρων, EMA12 και EMA26. Τα Bollinger Bands υπολογίζονται από τον κινητό μέσο όρο 20 ημερών και την τυπική απόκλιση. Το ATR υπολογίζεται από το True Range και μετράει τη μεταβλητότητα. Στο τέλος, κάθε ημέρα γίνεται ένα διάνυσμα χαρακτηριστικών και το μοντέλο χρησιμοποιεί παράθυρο 60 ημερών.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Εδώ είναι ένα πολύ σημαντικό σημείο.</a:t>
            </a:r>
            <a:endParaRPr lang="en-US" altLang="en-US" dirty="0"/>
          </a:p>
          <a:p>
            <a:r>
              <a:rPr lang="en-US" altLang="en-US" dirty="0"/>
              <a:t>Το μοντέλο δεν παίρνει ως input μία μόνο ημέρα. Παίρνει ένα παράθυρο 60 συνεχόμενων ημερών.</a:t>
            </a:r>
            <a:endParaRPr lang="en-US" altLang="en-US" dirty="0"/>
          </a:p>
          <a:p>
            <a:endParaRPr lang="en-US" altLang="en-US" dirty="0"/>
          </a:p>
          <a:p>
            <a:r>
              <a:rPr lang="en-US" altLang="en-US" dirty="0"/>
              <a:t>Κάθε ημέρα έχει το δικό της διάνυσμα χαρακτηριστικών. Άρα το input δεν είναι ένας απλός αριθμός ούτε ένα απλό διάνυσμα, αλλά ένας πίνακας.</a:t>
            </a:r>
            <a:endParaRPr lang="en-US" altLang="en-US" dirty="0"/>
          </a:p>
          <a:p>
            <a:endParaRPr lang="en-US" altLang="en-US" dirty="0"/>
          </a:p>
          <a:p>
            <a:r>
              <a:rPr lang="en-US" altLang="en-US" dirty="0"/>
              <a:t>Μαθηματικά, το input γράφεται ως:</a:t>
            </a:r>
            <a:endParaRPr lang="en-US" altLang="en-US" dirty="0"/>
          </a:p>
          <a:p>
            <a:r>
              <a:rPr lang="en-US" altLang="en-US" dirty="0"/>
              <a:t>[</a:t>
            </a:r>
            <a:endParaRPr lang="en-US" altLang="en-US" dirty="0"/>
          </a:p>
          <a:p>
            <a:r>
              <a:rPr lang="en-US" altLang="en-US" dirty="0"/>
              <a:t>X_t = [x_{t-L+1}, x_{t-L+2}, \ldots, x_t]</a:t>
            </a:r>
            <a:endParaRPr lang="en-US" altLang="en-US" dirty="0"/>
          </a:p>
          <a:p>
            <a:r>
              <a:rPr lang="en-US" altLang="en-US" dirty="0"/>
              <a:t>]</a:t>
            </a:r>
            <a:endParaRPr lang="en-US" altLang="en-US" dirty="0"/>
          </a:p>
          <a:p>
            <a:r>
              <a:rPr lang="en-US" altLang="en-US" dirty="0"/>
              <a:t>και έχει διαστάσεις:</a:t>
            </a:r>
            <a:endParaRPr lang="en-US" altLang="en-US" dirty="0"/>
          </a:p>
          <a:p>
            <a:r>
              <a:rPr lang="en-US" altLang="en-US" dirty="0"/>
              <a:t>[</a:t>
            </a:r>
            <a:endParaRPr lang="en-US" altLang="en-US" dirty="0"/>
          </a:p>
          <a:p>
            <a:r>
              <a:rPr lang="en-US" altLang="en-US" dirty="0"/>
              <a:t>X_t \in \mathbb{R}^{L \times d}</a:t>
            </a:r>
            <a:endParaRPr lang="en-US" altLang="en-US" dirty="0"/>
          </a:p>
          <a:p>
            <a:r>
              <a:rPr lang="en-US" altLang="en-US" dirty="0"/>
              <a:t>]</a:t>
            </a:r>
            <a:endParaRPr lang="en-US" altLang="en-US" dirty="0"/>
          </a:p>
          <a:p>
            <a:endParaRPr lang="en-US" altLang="en-US" dirty="0"/>
          </a:p>
          <a:p>
            <a:r>
              <a:rPr lang="en-US" altLang="en-US" dirty="0"/>
              <a:t>Στο project το (L) είναι 60. Αυτό σημαίνει ότι κάθε δείγμα εισόδου είναι 60 ημέρες επί τον αριθμό των χαρακτηριστικών ανά ημέρα.</a:t>
            </a:r>
            <a:endParaRPr lang="en-US" altLang="en-US" dirty="0"/>
          </a:p>
          <a:p>
            <a:r>
              <a:rPr lang="en-US" altLang="en-US" dirty="0"/>
              <a:t>Έτσι το μοντέλο έχει μια μορφή «μνήμης» της πρόσφατης συμπεριφοράς της μετοχής.</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Ο στόχος του μοντέλου δεν είναι απευθείας η τιμή, αλλά η λογαριθμική απόδοση για κάθε μελλοντικό ορίζοντα.</a:t>
            </a:r>
            <a:endParaRPr lang="en-US" altLang="en-US" dirty="0"/>
          </a:p>
          <a:p>
            <a:endParaRPr lang="en-US" altLang="en-US" dirty="0"/>
          </a:p>
          <a:p>
            <a:r>
              <a:rPr lang="en-US" altLang="en-US" dirty="0"/>
              <a:t>Για κάθε ημέρα (t), υπολογίζουμε:</a:t>
            </a:r>
            <a:endParaRPr lang="en-US" altLang="en-US" dirty="0"/>
          </a:p>
          <a:p>
            <a:r>
              <a:rPr lang="en-US" altLang="en-US" dirty="0"/>
              <a:t>[</a:t>
            </a:r>
            <a:endParaRPr lang="en-US" altLang="en-US" dirty="0"/>
          </a:p>
          <a:p>
            <a:r>
              <a:rPr lang="en-US" altLang="en-US" dirty="0"/>
              <a:t>r_{t,k} = \ln\left(\frac{P_{t+k}}{P_t}\right)</a:t>
            </a:r>
            <a:endParaRPr lang="en-US" altLang="en-US" dirty="0"/>
          </a:p>
          <a:p>
            <a:r>
              <a:rPr lang="en-US" altLang="en-US" dirty="0"/>
              <a:t>]</a:t>
            </a:r>
            <a:endParaRPr lang="en-US" altLang="en-US" dirty="0"/>
          </a:p>
          <a:p>
            <a:endParaRPr lang="en-US" altLang="en-US" dirty="0"/>
          </a:p>
          <a:p>
            <a:r>
              <a:rPr lang="en-US" altLang="en-US" dirty="0"/>
              <a:t>Αυτό σημαίνει ότι το target για την πρώτη ημέρα είναι η απόδοση από σήμερα μέχρι αύριο.</a:t>
            </a:r>
            <a:endParaRPr lang="en-US" altLang="en-US" dirty="0"/>
          </a:p>
          <a:p>
            <a:r>
              <a:rPr lang="en-US" altLang="en-US" dirty="0"/>
              <a:t>Το target για τη δεύτερη ημέρα είναι η απόδοση από σήμερα μέχρι δύο ημέρες μετά, και έτσι συνεχίζεται.</a:t>
            </a:r>
            <a:endParaRPr lang="en-US" altLang="en-US" dirty="0"/>
          </a:p>
          <a:p>
            <a:endParaRPr lang="en-US" altLang="en-US" dirty="0"/>
          </a:p>
          <a:p>
            <a:r>
              <a:rPr lang="en-US" altLang="en-US" dirty="0"/>
              <a:t>Για πενταετή πρόβλεψη έχουμε περίπου 1260 χρηματιστηριακές ημέρες. Άρα δημιουργούνται targets:</a:t>
            </a:r>
            <a:endParaRPr lang="en-US" altLang="en-US" dirty="0"/>
          </a:p>
          <a:p>
            <a:r>
              <a:rPr lang="en-US" altLang="en-US" dirty="0"/>
              <a:t>d0001, d0002, d0003, μέχρι d1260.</a:t>
            </a:r>
            <a:endParaRPr lang="en-US" altLang="en-US" dirty="0"/>
          </a:p>
          <a:p>
            <a:endParaRPr lang="en-US" altLang="en-US" dirty="0"/>
          </a:p>
          <a:p>
            <a:r>
              <a:rPr lang="en-US" altLang="en-US" dirty="0"/>
              <a:t>Το σημαντικό είναι ότι κάθε output του μοντέλου αντιστοιχεί σε διαφορετική μελλοντική ημέρα.</a:t>
            </a:r>
            <a:endParaRPr lang="en-US" altLang="en-US" dirty="0"/>
          </a:p>
          <a:p>
            <a:r>
              <a:rPr lang="en-US" altLang="en-US" dirty="0"/>
              <a:t>Μετά, όταν θέλουμε να ξαναπάρουμε τιμή, χρησιμοποιούμε:</a:t>
            </a:r>
            <a:endParaRPr lang="en-US" altLang="en-US" dirty="0"/>
          </a:p>
          <a:p>
            <a:r>
              <a:rPr lang="en-US" altLang="en-US" dirty="0"/>
              <a:t>[</a:t>
            </a:r>
            <a:endParaRPr lang="en-US" altLang="en-US" dirty="0"/>
          </a:p>
          <a:p>
            <a:r>
              <a:rPr lang="en-US" altLang="en-US" dirty="0"/>
              <a:t>\hat{P}{t+k} = P_t e^{\hat{r}{t,k}}</a:t>
            </a:r>
            <a:endParaRPr lang="en-US" altLang="en-US" dirty="0"/>
          </a:p>
          <a:p>
            <a:r>
              <a:rPr lang="en-US" altLang="en-US" dirty="0"/>
              <a:t>]</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Στις χρονοσειρές δεν μπορούμε να κάνουμε τυχαίο split, γιατί έτσι θα υπήρχε κίνδυνος να χρησιμοποιήσουμε μελλοντική πληροφορία στο training.</a:t>
            </a:r>
            <a:endParaRPr lang="en-US" altLang="en-US" dirty="0"/>
          </a:p>
          <a:p>
            <a:endParaRPr lang="en-US" altLang="en-US" dirty="0"/>
          </a:p>
          <a:p>
            <a:r>
              <a:rPr lang="en-US" altLang="en-US" dirty="0"/>
              <a:t>Για αυτό χωρίζουμε τα δεδομένα χρονικά.</a:t>
            </a:r>
            <a:endParaRPr lang="en-US" altLang="en-US" dirty="0"/>
          </a:p>
          <a:p>
            <a:r>
              <a:rPr lang="en-US" altLang="en-US" dirty="0"/>
              <a:t>Πρώτα έχουμε το train set, όπου το μοντέλο μαθαίνει τα βάρη του.</a:t>
            </a:r>
            <a:endParaRPr lang="en-US" altLang="en-US" dirty="0"/>
          </a:p>
          <a:p>
            <a:r>
              <a:rPr lang="en-US" altLang="en-US" dirty="0"/>
              <a:t>Μετά έχουμε το validation set, το οποίο χρησιμοποιείται για έλεγχο υπερπροσαρμογής και early stopping.</a:t>
            </a:r>
            <a:endParaRPr lang="en-US" altLang="en-US" dirty="0"/>
          </a:p>
          <a:p>
            <a:r>
              <a:rPr lang="en-US" altLang="en-US" dirty="0"/>
              <a:t>Τέλος έχουμε το test set, το οποίο χρησιμοποιείται για τελική αξιολόγηση.</a:t>
            </a:r>
            <a:endParaRPr lang="en-US" altLang="en-US" dirty="0"/>
          </a:p>
          <a:p>
            <a:endParaRPr lang="en-US" altLang="en-US" dirty="0"/>
          </a:p>
          <a:p>
            <a:r>
              <a:rPr lang="en-US" altLang="en-US" dirty="0"/>
              <a:t>Στο backtesting scenario, η πρόβλεψη ξεκινά από το train-end. Δηλαδή παίρνουμε τις τελευταίες 60 ημέρες μέχρι το train-end και ζητάμε από το μοντέλο να προβλέψει τη μελλοντική πορεία.</a:t>
            </a:r>
            <a:endParaRPr lang="en-US" altLang="en-US" dirty="0"/>
          </a:p>
          <a:p>
            <a:endParaRPr lang="en-US" altLang="en-US" dirty="0"/>
          </a:p>
          <a:p>
            <a:r>
              <a:rPr lang="en-US" altLang="en-US" dirty="0"/>
              <a:t>Αυτό είναι σημαντικό, γιατί μας επιτρέπει να συγκρίνουμε την πρόβλεψη με πραγματικές τιμές που ήδη υπάρχουν ιστορικά.</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Στην εργασία συγκρίνω τρεις αρχιτεκτονικές.</a:t>
            </a:r>
            <a:endParaRPr lang="en-US" altLang="en-US" dirty="0"/>
          </a:p>
          <a:p>
            <a:endParaRPr lang="en-US" altLang="en-US" dirty="0"/>
          </a:p>
          <a:p>
            <a:r>
              <a:rPr lang="en-US" altLang="en-US" dirty="0"/>
              <a:t>Το πρώτο είναι το CNN, δηλαδή Convolutional Neural Network. Αυτό προσπαθεί να εντοπίσει τοπικά χρονικά μοτίβα μέσα στο παράθυρο των 60 ημερών, όπως μικρές τάσεις, απότομες μεταβολές ή αλλαγές μεταβλητότητας.</a:t>
            </a:r>
            <a:endParaRPr lang="en-US" altLang="en-US" dirty="0"/>
          </a:p>
          <a:p>
            <a:endParaRPr lang="en-US" altLang="en-US" dirty="0"/>
          </a:p>
          <a:p>
            <a:r>
              <a:rPr lang="en-US" altLang="en-US" dirty="0"/>
              <a:t>Το δεύτερο είναι το TDNN, δηλαδή Time Delay Neural Network. Αυτό χρησιμοποιεί χρονικές καθυστερήσεις, ώστε να εξετάσει διαφορετικές χρονικές κλίμακες μέσα στη χρονοσειρά.</a:t>
            </a:r>
            <a:endParaRPr lang="en-US" altLang="en-US" dirty="0"/>
          </a:p>
          <a:p>
            <a:endParaRPr lang="en-US" altLang="en-US" dirty="0"/>
          </a:p>
          <a:p>
            <a:r>
              <a:rPr lang="en-US" altLang="en-US" dirty="0"/>
              <a:t>Το τρίτο είναι το CNN-LSTM. Το CNN εξάγει πρώτα τοπικά χαρακτηριστικά και μετά το LSTM προσπαθεί να κρατήσει χρονική μνήμη της ακολουθίας.</a:t>
            </a:r>
            <a:endParaRPr lang="en-US" altLang="en-US" dirty="0"/>
          </a:p>
          <a:p>
            <a:endParaRPr lang="en-US" altLang="en-US" dirty="0"/>
          </a:p>
          <a:p>
            <a:r>
              <a:rPr lang="en-US" altLang="en-US" dirty="0"/>
              <a:t>Και τα τρία μοντέλα έχουν το ίδιο είδος output: ένα διάνυσμα προβλεπόμενων μελλοντικών αποδόσεων.</a:t>
            </a:r>
            <a:endParaRPr lang="en-US" altLang="en-US" dirty="0"/>
          </a:p>
          <a:p>
            <a:r>
              <a:rPr lang="en-US" altLang="en-US" dirty="0"/>
              <a:t>Το καλύτερο μοντέλο επιλέγεται με βάση τις μετρικές στο test set.</a:t>
            </a:r>
            <a:endParaRPr lang="en-US" altLang="en-US" dirty="0"/>
          </a:p>
          <a:p>
            <a:endParaRPr lang="en-US" altLang="en-US" dirty="0"/>
          </a:p>
          <a:p>
            <a:r>
              <a:rPr lang="en-US" altLang="en-US" dirty="0"/>
              <a:t>Στην εργασία συγκρίνω τρία νευρωνικά μοντέλα για πρόβλεψη χρηματοοικονομικών χρονοσειρών: CNN, TDNN και CNN-LSTM.</a:t>
            </a:r>
            <a:endParaRPr lang="en-US" altLang="en-US" dirty="0"/>
          </a:p>
          <a:p>
            <a:endParaRPr lang="en-US" altLang="en-US" dirty="0"/>
          </a:p>
          <a:p>
            <a:r>
              <a:rPr lang="en-US" altLang="en-US" dirty="0"/>
              <a:t>Και τα τρία μοντέλα δέχονται την ίδια είσοδο, δηλαδή ένα παράθυρο 60 προηγούμενων trading days. </a:t>
            </a:r>
            <a:endParaRPr lang="en-US" altLang="en-US" dirty="0"/>
          </a:p>
          <a:p>
            <a:r>
              <a:rPr lang="en-US" altLang="en-US" dirty="0"/>
              <a:t>Κάθε ημέρα περιγράφεται από πολλά features, όπως Open, High, Low, Close, Volume και τεχνικούς δείκτες όπως RSI, MACD, Bollinger Bands και ATR.</a:t>
            </a:r>
            <a:endParaRPr lang="en-US" altLang="en-US" dirty="0"/>
          </a:p>
          <a:p>
            <a:endParaRPr lang="en-US" altLang="en-US" dirty="0"/>
          </a:p>
          <a:p>
            <a:r>
              <a:rPr lang="en-US" altLang="en-US" dirty="0"/>
              <a:t>Το CNN χρησιμοποιεί μονοδιάστατα convolutional filters πάνω στον χρόνο. </a:t>
            </a:r>
            <a:endParaRPr lang="en-US" altLang="en-US" dirty="0"/>
          </a:p>
          <a:p>
            <a:r>
              <a:rPr lang="en-US" altLang="en-US" dirty="0"/>
              <a:t>Στο δικό μου implementation έχει τρία convolutional blocks με 32, 64 και 128 filters. </a:t>
            </a:r>
            <a:endParaRPr lang="en-US" altLang="en-US" dirty="0"/>
          </a:p>
          <a:p>
            <a:r>
              <a:rPr lang="en-US" altLang="en-US" dirty="0"/>
              <a:t>Ο στόχος του είναι να εντοπίσει τοπικά χρονικά μοτίβα μέσα στο παράθυρο, όπως μικρές τάσεις, απότομες μεταβολές ή αλλαγές μεταβλητότητας.</a:t>
            </a:r>
            <a:endParaRPr lang="en-US" altLang="en-US" dirty="0"/>
          </a:p>
          <a:p>
            <a:endParaRPr lang="en-US" altLang="en-US" dirty="0"/>
          </a:p>
          <a:p>
            <a:r>
              <a:rPr lang="en-US" altLang="en-US" dirty="0"/>
              <a:t>Το TDNN χρησιμοποιεί χρονικές καθυστερήσεις. </a:t>
            </a:r>
            <a:endParaRPr lang="en-US" altLang="en-US" dirty="0"/>
          </a:p>
          <a:p>
            <a:r>
              <a:rPr lang="en-US" altLang="en-US" dirty="0"/>
              <a:t>Συγκεκριμένα δημιουργεί delayed versions της χρονοσειράς με καθυστερήσεις 1, 2, 4 και 8 ημερών. </a:t>
            </a:r>
            <a:endParaRPr lang="en-US" altLang="en-US" dirty="0"/>
          </a:p>
          <a:p>
            <a:r>
              <a:rPr lang="en-US" altLang="en-US" dirty="0"/>
              <a:t>Έτσι μπορεί να συσχετίσει την τωρινή πληροφορία με προηγούμενες χρονικές θέσεις μέσα στο ίδιο παράθυρο.</a:t>
            </a:r>
            <a:endParaRPr lang="en-US" altLang="en-US" dirty="0"/>
          </a:p>
          <a:p>
            <a:endParaRPr lang="en-US" altLang="en-US" dirty="0"/>
          </a:p>
          <a:p>
            <a:r>
              <a:rPr lang="en-US" altLang="en-US" dirty="0"/>
              <a:t>Το CNN-LSTM συνδυάζει convolutional layers και LSTM. </a:t>
            </a:r>
            <a:endParaRPr lang="en-US" altLang="en-US" dirty="0"/>
          </a:p>
          <a:p>
            <a:r>
              <a:rPr lang="en-US" altLang="en-US" dirty="0"/>
              <a:t>Το CNN μέρος εξάγει τοπικά μοτίβα και το LSTM μέρος προσπαθεί να κρατήσει τη χρονική εξέλιξη αυτών των μοτίβων. </a:t>
            </a:r>
            <a:endParaRPr lang="en-US" altLang="en-US" dirty="0"/>
          </a:p>
          <a:p>
            <a:r>
              <a:rPr lang="en-US" altLang="en-US" dirty="0"/>
              <a:t>Έτσι το μοντέλο συνδυάζει pattern extraction και temporal memory.</a:t>
            </a:r>
            <a:endParaRPr lang="en-US" altLang="en-US" dirty="0"/>
          </a:p>
          <a:p>
            <a:endParaRPr lang="en-US" altLang="en-US" dirty="0"/>
          </a:p>
          <a:p>
            <a:r>
              <a:rPr lang="en-US" altLang="en-US" dirty="0"/>
              <a:t>Και τα τρία μοντέλα χρησιμοποιούν direct multi-output forecasting. </a:t>
            </a:r>
            <a:endParaRPr lang="en-US" altLang="en-US" dirty="0"/>
          </a:p>
          <a:p>
            <a:r>
              <a:rPr lang="en-US" altLang="en-US" dirty="0"/>
              <a:t>Δηλαδή δεν προβλέπουν μόνο την επόμενη ημέρα ούτε χρησιμοποιούν recursive prediction. </a:t>
            </a:r>
            <a:endParaRPr lang="en-US" altLang="en-US" dirty="0"/>
          </a:p>
          <a:p>
            <a:r>
              <a:rPr lang="en-US" altLang="en-US" dirty="0"/>
              <a:t>Από ένα input window 60 ημερών παράγουν απευθείας ένα διάνυσμα 1260 outputs, όπου κάθε output είναι η predicted log-return για μία διαφορετική μελλοντική trading day.</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Στην πρόβλεψη δεν χρησιμοποιούνται μελλοντικά δεδομένα ως input.</a:t>
            </a:r>
            <a:endParaRPr lang="en-US" altLang="en-US" dirty="0"/>
          </a:p>
          <a:p>
            <a:r>
              <a:rPr lang="en-US" altLang="en-US" dirty="0"/>
              <a:t>Το μοντέλο παίρνει μόνο τις τελευταίες 60 πραγματικές ημέρες μέχρι την ημερομηνία πρόβλεψης.</a:t>
            </a:r>
            <a:endParaRPr lang="en-US" altLang="en-US" dirty="0"/>
          </a:p>
          <a:p>
            <a:endParaRPr lang="en-US" altLang="en-US" dirty="0"/>
          </a:p>
          <a:p>
            <a:r>
              <a:rPr lang="en-US" altLang="en-US" dirty="0"/>
              <a:t>Αυτό το ιστορικό παράθυρο περνάει στο νευρωνικό δίκτυο:</a:t>
            </a:r>
            <a:endParaRPr lang="en-US" altLang="en-US" dirty="0"/>
          </a:p>
          <a:p>
            <a:r>
              <a:rPr lang="en-US" altLang="en-US" dirty="0"/>
              <a:t>[</a:t>
            </a:r>
            <a:endParaRPr lang="en-US" altLang="en-US" dirty="0"/>
          </a:p>
          <a:p>
            <a:r>
              <a:rPr lang="en-US" altLang="en-US" dirty="0"/>
              <a:t>f_\theta(X_t)</a:t>
            </a:r>
            <a:endParaRPr lang="en-US" altLang="en-US" dirty="0"/>
          </a:p>
          <a:p>
            <a:r>
              <a:rPr lang="en-US" altLang="en-US" dirty="0"/>
              <a:t>]</a:t>
            </a:r>
            <a:endParaRPr lang="en-US" altLang="en-US" dirty="0"/>
          </a:p>
          <a:p>
            <a:endParaRPr lang="en-US" altLang="en-US" dirty="0"/>
          </a:p>
          <a:p>
            <a:r>
              <a:rPr lang="en-US" altLang="en-US" dirty="0"/>
              <a:t>και το μοντέλο βγάζει ταυτόχρονα τις προβλεπόμενες αποδόσεις:</a:t>
            </a:r>
            <a:endParaRPr lang="en-US" altLang="en-US" dirty="0"/>
          </a:p>
          <a:p>
            <a:r>
              <a:rPr lang="en-US" altLang="en-US" dirty="0"/>
              <a:t>[</a:t>
            </a:r>
            <a:endParaRPr lang="en-US" altLang="en-US" dirty="0"/>
          </a:p>
          <a:p>
            <a:r>
              <a:rPr lang="en-US" altLang="en-US" dirty="0"/>
              <a:t>\hat{r}{t,1}, \hat{r}{t,2}, \ldots, \hat{r}_{t,H}</a:t>
            </a:r>
            <a:endParaRPr lang="en-US" altLang="en-US" dirty="0"/>
          </a:p>
          <a:p>
            <a:r>
              <a:rPr lang="en-US" altLang="en-US" dirty="0"/>
              <a:t>]</a:t>
            </a:r>
            <a:endParaRPr lang="en-US" altLang="en-US" dirty="0"/>
          </a:p>
          <a:p>
            <a:endParaRPr lang="en-US" altLang="en-US" dirty="0"/>
          </a:p>
          <a:p>
            <a:r>
              <a:rPr lang="en-US" altLang="en-US" dirty="0"/>
              <a:t>Μετά κάθε απόδοση μετατρέπεται σε προβλεπόμενη τιμή με τον τύπο:</a:t>
            </a:r>
            <a:endParaRPr lang="en-US" altLang="en-US" dirty="0"/>
          </a:p>
          <a:p>
            <a:r>
              <a:rPr lang="en-US" altLang="en-US" dirty="0"/>
              <a:t>[</a:t>
            </a:r>
            <a:endParaRPr lang="en-US" altLang="en-US" dirty="0"/>
          </a:p>
          <a:p>
            <a:r>
              <a:rPr lang="en-US" altLang="en-US" dirty="0"/>
              <a:t>\hat{P}{t+k} = P_t e^{\hat{r}{t,k}}</a:t>
            </a:r>
            <a:endParaRPr lang="en-US" altLang="en-US" dirty="0"/>
          </a:p>
          <a:p>
            <a:r>
              <a:rPr lang="en-US" altLang="en-US" dirty="0"/>
              <a:t>]</a:t>
            </a:r>
            <a:endParaRPr lang="en-US" altLang="en-US" dirty="0"/>
          </a:p>
          <a:p>
            <a:endParaRPr lang="en-US" altLang="en-US" dirty="0"/>
          </a:p>
          <a:p>
            <a:r>
              <a:rPr lang="en-US" altLang="en-US" dirty="0"/>
              <a:t>Οι μελλοντικές ημερομηνίες μπαίνουν μόνο στο γράφημα, στον άξονα του χρόνου. Δεν μπαίνουν ποτέ ως input στο μοντέλο.</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Εδώ εξηγείται γιατί χρησιμοποιώ Direct Multi-Output Forecasting και όχι recursive forecasting.</a:t>
            </a:r>
            <a:endParaRPr lang="en-US" altLang="en-US" dirty="0"/>
          </a:p>
          <a:p>
            <a:endParaRPr lang="en-US" altLang="en-US" dirty="0"/>
          </a:p>
          <a:p>
            <a:r>
              <a:rPr lang="en-US" altLang="en-US" dirty="0"/>
              <a:t>Στο recursive forecasting, προβλέπουμε πρώτα την επόμενη ημέρα. Μετά χρησιμοποιούμε αυτή την πρόβλεψη ως input για να προβλέψουμε τη μεθεπόμενη ημέρα, και συνεχίζουμε έτσι.</a:t>
            </a:r>
            <a:endParaRPr lang="en-US" altLang="en-US" dirty="0"/>
          </a:p>
          <a:p>
            <a:r>
              <a:rPr lang="en-US" altLang="en-US" dirty="0"/>
              <a:t>Το πρόβλημα είναι ότι τα σφάλματα συσσωρεύονται. Αν η πρώτη πρόβλεψη είναι λάθος, τότε επηρεάζει όλες τις επόμενες.</a:t>
            </a:r>
            <a:endParaRPr lang="en-US" altLang="en-US" dirty="0"/>
          </a:p>
          <a:p>
            <a:endParaRPr lang="en-US" altLang="en-US" dirty="0"/>
          </a:p>
          <a:p>
            <a:r>
              <a:rPr lang="en-US" altLang="en-US" dirty="0"/>
              <a:t>Επίσης, για recursive forecasting θα χρειαζόμασταν μελλοντικούς τεχνικούς δείκτες, όπως μελλοντικό RSI, MACD ή volume, τα οποία δεν είναι γνωστά.</a:t>
            </a:r>
            <a:endParaRPr lang="en-US" altLang="en-US" dirty="0"/>
          </a:p>
          <a:p>
            <a:endParaRPr lang="en-US" altLang="en-US" dirty="0"/>
          </a:p>
          <a:p>
            <a:r>
              <a:rPr lang="en-US" altLang="en-US" dirty="0"/>
              <a:t>Στο Direct Multi-Output Forecasting το μοντέλο παίρνει ένα πραγματικό ιστορικό παράθυρο και παράγει απευθείας όλες τις μελλοντικές προβλέψεις.</a:t>
            </a:r>
            <a:endParaRPr lang="en-US" altLang="en-US" dirty="0"/>
          </a:p>
          <a:p>
            <a:r>
              <a:rPr lang="en-US" altLang="en-US" dirty="0"/>
              <a:t>Άρα δεν χρησιμοποιεί δικές του προηγούμενες προβλέψεις ως νέα είσοδο.</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Το σφάλμα μπορεί να μετρηθεί μόνο όταν ξέρουμε τις πραγματικές μελλοντικές τιμές.</a:t>
            </a:r>
            <a:endParaRPr lang="en-US" altLang="en-US" dirty="0"/>
          </a:p>
          <a:p>
            <a:endParaRPr lang="en-US" altLang="en-US" dirty="0"/>
          </a:p>
          <a:p>
            <a:r>
              <a:rPr lang="en-US" altLang="en-US" dirty="0"/>
              <a:t>Αν κάνουμε historical backtest, ξεκινάμε την πρόβλεψη από μία παλιά ημερομηνία. Επειδή οι μελλοντικές τιμές από εκείνη την ημερομηνία υπάρχουν ήδη, μπορούμε να συγκρίνουμε πρόβλεψη και πραγματικότητα.</a:t>
            </a:r>
            <a:endParaRPr lang="en-US" altLang="en-US" dirty="0"/>
          </a:p>
          <a:p>
            <a:endParaRPr lang="en-US" altLang="en-US" dirty="0"/>
          </a:p>
          <a:p>
            <a:r>
              <a:rPr lang="en-US" altLang="en-US" dirty="0"/>
              <a:t>Τότε μπορούμε να υπολογίσουμε μετρικές όπως MAE, RMSE και Directional Accuracy.</a:t>
            </a:r>
            <a:endParaRPr lang="en-US" altLang="en-US" dirty="0"/>
          </a:p>
          <a:p>
            <a:endParaRPr lang="en-US" altLang="en-US" dirty="0"/>
          </a:p>
          <a:p>
            <a:r>
              <a:rPr lang="en-US" altLang="en-US" dirty="0"/>
              <a:t>Αν όμως κάνουμε πραγματική πρόβλεψη από σήμερα προς το μέλλον, τότε οι πραγματικές τιμές δεν υπάρχουν ακόμη.</a:t>
            </a:r>
            <a:endParaRPr lang="en-US" altLang="en-US" dirty="0"/>
          </a:p>
          <a:p>
            <a:r>
              <a:rPr lang="en-US" altLang="en-US" dirty="0"/>
              <a:t>Άρα δεν μπορούμε να υπολογίσουμε πραγματικό MAE ή RMSE. Μπορούμε μόνο να δείξουμε την προβλεπόμενη πορεία και την αβεβαιότητα.</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Το plot δείχνει πρώτα την πραγματική ιστορική τιμή μέχρι την ημερομηνία πρόβλεψης.</a:t>
            </a:r>
            <a:endParaRPr lang="en-US" altLang="en-US" dirty="0"/>
          </a:p>
          <a:p>
            <a:r>
              <a:rPr lang="en-US" altLang="en-US" dirty="0"/>
              <a:t>Η κάθετη γραμμή δείχνει το origin date, δηλαδή την ημερομηνία από όπου ξεκινά η πρόβλεψη.</a:t>
            </a:r>
            <a:endParaRPr lang="en-US" altLang="en-US" dirty="0"/>
          </a:p>
          <a:p>
            <a:endParaRPr lang="en-US" altLang="en-US" dirty="0"/>
          </a:p>
          <a:p>
            <a:r>
              <a:rPr lang="en-US" altLang="en-US" dirty="0"/>
              <a:t>Μετά από αυτή την ημερομηνία φαίνεται η προβλεπόμενη ημερήσια καμπύλη.</a:t>
            </a:r>
            <a:endParaRPr lang="en-US" altLang="en-US" dirty="0"/>
          </a:p>
          <a:p>
            <a:r>
              <a:rPr lang="en-US" altLang="en-US" dirty="0"/>
              <a:t>Τα σημεία 1d, 1m, 1y και 5y δεν είναι διαφορετικές προβλέψεις από διαφορετικά μοντέλα. Είναι ορόσημα πάνω στην ίδια προβλεπόμενη ημερήσια καμπύλη.</a:t>
            </a:r>
            <a:endParaRPr lang="en-US" altLang="en-US" dirty="0"/>
          </a:p>
          <a:p>
            <a:endParaRPr lang="en-US" altLang="en-US" dirty="0"/>
          </a:p>
          <a:p>
            <a:r>
              <a:rPr lang="en-US" altLang="en-US" dirty="0"/>
              <a:t>Άρα το μοντέλο δεν προβλέπει μόνο τέσσερα σημεία. Προβλέπει κάθε μελλοντική trading day μέχρι τον μέγιστο ορίζοντα, και εμείς απλώς σημειώνουμε κάποια βασικά σημεία πάνω στο plot.</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Μετά την εκπαίδευση, το project αποθηκεύει το καλύτερο μοντέλο στο φάκελο saved_models.</a:t>
            </a:r>
            <a:endParaRPr lang="en-US" altLang="en-US" dirty="0"/>
          </a:p>
          <a:p>
            <a:endParaRPr lang="en-US" altLang="en-US" dirty="0"/>
          </a:p>
          <a:p>
            <a:r>
              <a:rPr lang="en-US" altLang="en-US" dirty="0"/>
              <a:t>Το αποθηκευμένο μοντέλο δεν περιέχει μόνο τα βάρη του neural network. Περιέχει επίσης τον scaler, τα feature names, τα horizons, το sequence length και τις ημερομηνίες εκπαίδευσης.</a:t>
            </a:r>
            <a:endParaRPr lang="en-US" altLang="en-US" dirty="0"/>
          </a:p>
          <a:p>
            <a:endParaRPr lang="en-US" altLang="en-US" dirty="0"/>
          </a:p>
          <a:p>
            <a:r>
              <a:rPr lang="en-US" altLang="en-US" dirty="0"/>
              <a:t>Αυτό είναι σημαντικό γιατί το GUI μπορεί να φορτώσει αυτό το package και να κάνει πρόβλεψη χωρίς να χρειαστεί να εκπαιδεύσει ξανά το μοντέλο.</a:t>
            </a:r>
            <a:endParaRPr lang="en-US" altLang="en-US" dirty="0"/>
          </a:p>
          <a:p>
            <a:endParaRPr lang="en-US" altLang="en-US" dirty="0"/>
          </a:p>
          <a:p>
            <a:r>
              <a:rPr lang="en-US" altLang="en-US" dirty="0"/>
              <a:t>Επίσης, το project αποθηκεύει plots, metrics και αποτελέσματα σε CSV ή JSON, ώστε να μπορούν να χρησιμοποιηθούν στην ανάλυση και στην παρουσίαση.</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Εξηγώ ότι το plot δεν είναι μία πρόβλεψη ανά horizon μόνο, αλλά καθημερινή καμπύλη, με milestones πάνω σε αυτή.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0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2033"/>
          </a:solidFill>
          <a:ln w="12700">
            <a:solidFill>
              <a:srgbClr val="112033"/>
            </a:solidFill>
            <a:prstDash val="solid"/>
          </a:ln>
        </p:spPr>
      </p:sp>
      <p:sp>
        <p:nvSpPr>
          <p:cNvPr id="3" name="Shape 1"/>
          <p:cNvSpPr/>
          <p:nvPr/>
        </p:nvSpPr>
        <p:spPr>
          <a:xfrm>
            <a:off x="0" y="0"/>
            <a:ext cx="219456" cy="6858000"/>
          </a:xfrm>
          <a:prstGeom prst="rect">
            <a:avLst/>
          </a:prstGeom>
          <a:solidFill>
            <a:srgbClr val="008C95"/>
          </a:solidFill>
          <a:ln w="12700">
            <a:solidFill>
              <a:srgbClr val="008C95"/>
            </a:solidFill>
            <a:prstDash val="solid"/>
          </a:ln>
        </p:spPr>
      </p:sp>
      <p:sp>
        <p:nvSpPr>
          <p:cNvPr id="4" name="Text 2"/>
          <p:cNvSpPr/>
          <p:nvPr/>
        </p:nvSpPr>
        <p:spPr>
          <a:xfrm>
            <a:off x="685800" y="1645920"/>
            <a:ext cx="9875520" cy="640080"/>
          </a:xfrm>
          <a:prstGeom prst="rect">
            <a:avLst/>
          </a:prstGeom>
          <a:noFill/>
        </p:spPr>
        <p:txBody>
          <a:bodyPr wrap="square" lIns="0" tIns="0" rIns="0" bIns="0" rtlCol="0" anchor="ctr">
            <a:normAutofit/>
          </a:bodyPr>
          <a:lstStyle/>
          <a:p>
            <a:pPr marL="0" indent="0">
              <a:buNone/>
            </a:pPr>
            <a:r>
              <a:rPr lang="en-US" sz="3600" b="1" dirty="0">
                <a:solidFill>
                  <a:srgbClr val="FFFFFF"/>
                </a:solidFill>
              </a:rPr>
              <a:t>Πρόβλεψη Χρηματιστηριακών Τιμών</a:t>
            </a:r>
            <a:endParaRPr lang="en-US" sz="3600" dirty="0"/>
          </a:p>
        </p:txBody>
      </p:sp>
      <p:sp>
        <p:nvSpPr>
          <p:cNvPr id="5" name="Text 3"/>
          <p:cNvSpPr/>
          <p:nvPr/>
        </p:nvSpPr>
        <p:spPr>
          <a:xfrm>
            <a:off x="713232" y="2359152"/>
            <a:ext cx="9784080" cy="411480"/>
          </a:xfrm>
          <a:prstGeom prst="rect">
            <a:avLst/>
          </a:prstGeom>
          <a:noFill/>
        </p:spPr>
        <p:txBody>
          <a:bodyPr wrap="square" lIns="0" tIns="0" rIns="0" bIns="0" rtlCol="0" anchor="ctr">
            <a:normAutofit/>
          </a:bodyPr>
          <a:lstStyle/>
          <a:p>
            <a:pPr marL="0" indent="0">
              <a:buNone/>
            </a:pPr>
            <a:r>
              <a:rPr lang="en-US" sz="2000" dirty="0">
                <a:solidFill>
                  <a:srgbClr val="D7E3EE"/>
                </a:solidFill>
              </a:rPr>
              <a:t>με Νευρωνικά Δίκτυα και Direct Multi-Output Forecasting</a:t>
            </a:r>
            <a:endParaRPr lang="en-US" sz="2000" dirty="0"/>
          </a:p>
        </p:txBody>
      </p:sp>
      <p:sp>
        <p:nvSpPr>
          <p:cNvPr id="6" name="Text 4"/>
          <p:cNvSpPr/>
          <p:nvPr/>
        </p:nvSpPr>
        <p:spPr>
          <a:xfrm>
            <a:off x="749808" y="3154680"/>
            <a:ext cx="8869680" cy="640080"/>
          </a:xfrm>
          <a:prstGeom prst="rect">
            <a:avLst/>
          </a:prstGeom>
          <a:noFill/>
        </p:spPr>
        <p:txBody>
          <a:bodyPr wrap="square" lIns="0" tIns="0" rIns="0" bIns="0" rtlCol="0" anchor="ctr">
            <a:normAutofit/>
          </a:bodyPr>
          <a:lstStyle/>
          <a:p>
            <a:pPr marL="0" indent="0">
              <a:buNone/>
            </a:pPr>
            <a:r>
              <a:rPr lang="en-US" sz="1650" dirty="0">
                <a:solidFill>
                  <a:srgbClr val="BFD3E3"/>
                </a:solidFill>
              </a:rPr>
              <a:t>Στόχος: από ιστορικές τιμές και τεχνικούς δείκτες σε ημερήσια μελλοντική καμπύλη πρόβλεψης</a:t>
            </a:r>
            <a:endParaRPr lang="en-US" sz="1650" dirty="0"/>
          </a:p>
        </p:txBody>
      </p:sp>
      <p:sp>
        <p:nvSpPr>
          <p:cNvPr id="7" name="Text 5"/>
          <p:cNvSpPr/>
          <p:nvPr/>
        </p:nvSpPr>
        <p:spPr>
          <a:xfrm>
            <a:off x="749808" y="4160520"/>
            <a:ext cx="914400" cy="347472"/>
          </a:xfrm>
          <a:prstGeom prst="rect">
            <a:avLst/>
          </a:prstGeom>
          <a:solidFill>
            <a:srgbClr val="008C95"/>
          </a:solidFill>
          <a:ln>
            <a:solidFill>
              <a:srgbClr val="008C95">
                <a:alpha val="0"/>
              </a:srgbClr>
            </a:solidFill>
          </a:ln>
        </p:spPr>
        <p:txBody>
          <a:bodyPr wrap="square" lIns="254" tIns="254" rIns="254" bIns="254" rtlCol="0" anchor="ctr"/>
          <a:lstStyle/>
          <a:p>
            <a:pPr marL="0" indent="0" algn="ctr">
              <a:buNone/>
            </a:pPr>
            <a:r>
              <a:rPr lang="en-US" sz="1100" b="1" dirty="0">
                <a:solidFill>
                  <a:srgbClr val="FFFFFF"/>
                </a:solidFill>
              </a:rPr>
              <a:t>CNN</a:t>
            </a:r>
            <a:endParaRPr lang="en-US" sz="1100" dirty="0"/>
          </a:p>
        </p:txBody>
      </p:sp>
      <p:sp>
        <p:nvSpPr>
          <p:cNvPr id="8" name="Text 6"/>
          <p:cNvSpPr/>
          <p:nvPr/>
        </p:nvSpPr>
        <p:spPr>
          <a:xfrm>
            <a:off x="1810512" y="4160520"/>
            <a:ext cx="1097280" cy="347472"/>
          </a:xfrm>
          <a:prstGeom prst="rect">
            <a:avLst/>
          </a:prstGeom>
          <a:solidFill>
            <a:srgbClr val="6D5DFB"/>
          </a:solidFill>
          <a:ln>
            <a:solidFill>
              <a:srgbClr val="6D5DFB">
                <a:alpha val="0"/>
              </a:srgbClr>
            </a:solidFill>
          </a:ln>
        </p:spPr>
        <p:txBody>
          <a:bodyPr wrap="square" lIns="254" tIns="254" rIns="254" bIns="254" rtlCol="0" anchor="ctr"/>
          <a:lstStyle/>
          <a:p>
            <a:pPr marL="0" indent="0" algn="ctr">
              <a:buNone/>
            </a:pPr>
            <a:r>
              <a:rPr lang="en-US" sz="1100" b="1" dirty="0">
                <a:solidFill>
                  <a:srgbClr val="FFFFFF"/>
                </a:solidFill>
              </a:rPr>
              <a:t>TDNN</a:t>
            </a:r>
            <a:endParaRPr lang="en-US" sz="1100" dirty="0"/>
          </a:p>
        </p:txBody>
      </p:sp>
      <p:sp>
        <p:nvSpPr>
          <p:cNvPr id="9" name="Text 7"/>
          <p:cNvSpPr/>
          <p:nvPr/>
        </p:nvSpPr>
        <p:spPr>
          <a:xfrm>
            <a:off x="3063240" y="4160520"/>
            <a:ext cx="1508760" cy="347472"/>
          </a:xfrm>
          <a:prstGeom prst="rect">
            <a:avLst/>
          </a:prstGeom>
          <a:solidFill>
            <a:srgbClr val="F59E0B"/>
          </a:solidFill>
          <a:ln>
            <a:solidFill>
              <a:srgbClr val="F59E0B">
                <a:alpha val="0"/>
              </a:srgbClr>
            </a:solidFill>
          </a:ln>
        </p:spPr>
        <p:txBody>
          <a:bodyPr wrap="square" lIns="254" tIns="254" rIns="254" bIns="254" rtlCol="0" anchor="ctr"/>
          <a:lstStyle/>
          <a:p>
            <a:pPr marL="0" indent="0" algn="ctr">
              <a:buNone/>
            </a:pPr>
            <a:r>
              <a:rPr lang="en-US" sz="1100" b="1" dirty="0">
                <a:solidFill>
                  <a:srgbClr val="FFFFFF"/>
                </a:solidFill>
              </a:rPr>
              <a:t>CNN–LSTM</a:t>
            </a:r>
            <a:endParaRPr lang="en-US" sz="1100" dirty="0"/>
          </a:p>
        </p:txBody>
      </p:sp>
      <p:sp>
        <p:nvSpPr>
          <p:cNvPr id="10" name="Text 8"/>
          <p:cNvSpPr/>
          <p:nvPr/>
        </p:nvSpPr>
        <p:spPr>
          <a:xfrm>
            <a:off x="749808" y="6053328"/>
            <a:ext cx="2926080" cy="256032"/>
          </a:xfrm>
          <a:prstGeom prst="rect">
            <a:avLst/>
          </a:prstGeom>
          <a:noFill/>
        </p:spPr>
        <p:txBody>
          <a:bodyPr wrap="square" lIns="0" tIns="0" rIns="0" bIns="0" rtlCol="0" anchor="ctr"/>
          <a:lstStyle/>
          <a:p>
            <a:pPr marL="0" indent="0">
              <a:buNone/>
            </a:pPr>
            <a:r>
              <a:rPr lang="en-US" sz="1100" dirty="0">
                <a:solidFill>
                  <a:srgbClr val="9FB5C9"/>
                </a:solidFill>
              </a:rPr>
              <a:t>Παρουσίαση έργου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 Τι κάνει συνολικά το σύστημα</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Η ροή από ακατέργαστα δεδομένα μέχρι αποθήκευση μοντέλου και προβλέψεις</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594360" y="1965960"/>
            <a:ext cx="1691640" cy="914400"/>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350" dirty="0">
                <a:solidFill>
                  <a:srgbClr val="112033"/>
                </a:solidFill>
              </a:rPr>
              <a:t>Ιστορικά δεδομένα</a:t>
            </a:r>
            <a:endParaRPr lang="en-US" sz="1350" dirty="0"/>
          </a:p>
          <a:p>
            <a:pPr marL="0" indent="0" algn="ctr">
              <a:buNone/>
            </a:pPr>
            <a:r>
              <a:rPr lang="en-US" sz="1350" dirty="0">
                <a:solidFill>
                  <a:srgbClr val="112033"/>
                </a:solidFill>
              </a:rPr>
              <a:t>OHLCV</a:t>
            </a:r>
            <a:endParaRPr lang="en-US" sz="1350" dirty="0"/>
          </a:p>
        </p:txBody>
      </p:sp>
      <p:sp>
        <p:nvSpPr>
          <p:cNvPr id="6" name="Text 4"/>
          <p:cNvSpPr/>
          <p:nvPr/>
        </p:nvSpPr>
        <p:spPr>
          <a:xfrm>
            <a:off x="2395728" y="2249424"/>
            <a:ext cx="320040" cy="320040"/>
          </a:xfrm>
          <a:prstGeom prst="rect">
            <a:avLst/>
          </a:prstGeom>
          <a:noFill/>
        </p:spPr>
        <p:txBody>
          <a:bodyPr wrap="square" lIns="0" tIns="0" rIns="0" bIns="0" rtlCol="0" anchor="ctr"/>
          <a:lstStyle/>
          <a:p>
            <a:pPr marL="0" indent="0" algn="ctr">
              <a:buNone/>
            </a:pPr>
            <a:r>
              <a:rPr lang="en-US" sz="2100" b="1" dirty="0">
                <a:solidFill>
                  <a:srgbClr val="52616B"/>
                </a:solidFill>
              </a:rPr>
              <a:t>→</a:t>
            </a:r>
            <a:endParaRPr lang="en-US" sz="2100" dirty="0"/>
          </a:p>
        </p:txBody>
      </p:sp>
      <p:sp>
        <p:nvSpPr>
          <p:cNvPr id="7" name="Text 5"/>
          <p:cNvSpPr/>
          <p:nvPr/>
        </p:nvSpPr>
        <p:spPr>
          <a:xfrm>
            <a:off x="2788920" y="1965960"/>
            <a:ext cx="1874520" cy="914400"/>
          </a:xfrm>
          <a:prstGeom prst="rect">
            <a:avLst/>
          </a:prstGeom>
          <a:solidFill>
            <a:srgbClr val="ECFDF5"/>
          </a:solidFill>
          <a:ln w="12700">
            <a:solidFill>
              <a:srgbClr val="A7F3D0"/>
            </a:solidFill>
          </a:ln>
        </p:spPr>
        <p:txBody>
          <a:bodyPr wrap="square" lIns="1016" tIns="1016" rIns="1016" bIns="1016" rtlCol="0" anchor="ctr">
            <a:normAutofit/>
          </a:bodyPr>
          <a:lstStyle/>
          <a:p>
            <a:pPr marL="0" indent="0" algn="ctr">
              <a:buNone/>
            </a:pPr>
            <a:r>
              <a:rPr lang="en-US" sz="1350" dirty="0">
                <a:solidFill>
                  <a:srgbClr val="112033"/>
                </a:solidFill>
              </a:rPr>
              <a:t>Τεχνικοί δείκτες</a:t>
            </a:r>
            <a:endParaRPr lang="en-US" sz="1350" dirty="0"/>
          </a:p>
          <a:p>
            <a:pPr marL="0" indent="0" algn="ctr">
              <a:buNone/>
            </a:pPr>
            <a:r>
              <a:rPr lang="en-US" sz="1350" dirty="0">
                <a:solidFill>
                  <a:srgbClr val="112033"/>
                </a:solidFill>
              </a:rPr>
              <a:t>RSI, MACD, MA, ATR</a:t>
            </a:r>
            <a:endParaRPr lang="en-US" sz="1350" dirty="0"/>
          </a:p>
        </p:txBody>
      </p:sp>
      <p:sp>
        <p:nvSpPr>
          <p:cNvPr id="8" name="Text 6"/>
          <p:cNvSpPr/>
          <p:nvPr/>
        </p:nvSpPr>
        <p:spPr>
          <a:xfrm>
            <a:off x="4773168" y="2249424"/>
            <a:ext cx="320040" cy="320040"/>
          </a:xfrm>
          <a:prstGeom prst="rect">
            <a:avLst/>
          </a:prstGeom>
          <a:noFill/>
        </p:spPr>
        <p:txBody>
          <a:bodyPr wrap="square" lIns="0" tIns="0" rIns="0" bIns="0" rtlCol="0" anchor="ctr"/>
          <a:lstStyle/>
          <a:p>
            <a:pPr marL="0" indent="0" algn="ctr">
              <a:buNone/>
            </a:pPr>
            <a:r>
              <a:rPr lang="en-US" sz="2100" b="1" dirty="0">
                <a:solidFill>
                  <a:srgbClr val="52616B"/>
                </a:solidFill>
              </a:rPr>
              <a:t>→</a:t>
            </a:r>
            <a:endParaRPr lang="en-US" sz="2100" dirty="0"/>
          </a:p>
        </p:txBody>
      </p:sp>
      <p:sp>
        <p:nvSpPr>
          <p:cNvPr id="9" name="Text 7"/>
          <p:cNvSpPr/>
          <p:nvPr/>
        </p:nvSpPr>
        <p:spPr>
          <a:xfrm>
            <a:off x="5166360" y="1965960"/>
            <a:ext cx="2011680" cy="914400"/>
          </a:xfrm>
          <a:prstGeom prst="rect">
            <a:avLst/>
          </a:prstGeom>
          <a:solidFill>
            <a:srgbClr val="F5F3FF"/>
          </a:solidFill>
          <a:ln w="12700">
            <a:solidFill>
              <a:srgbClr val="DDD6FE"/>
            </a:solidFill>
          </a:ln>
        </p:spPr>
        <p:txBody>
          <a:bodyPr wrap="square" lIns="1016" tIns="1016" rIns="1016" bIns="1016" rtlCol="0" anchor="ctr">
            <a:normAutofit/>
          </a:bodyPr>
          <a:lstStyle/>
          <a:p>
            <a:pPr marL="0" indent="0" algn="ctr">
              <a:buNone/>
            </a:pPr>
            <a:r>
              <a:rPr lang="en-US" sz="1350" dirty="0">
                <a:solidFill>
                  <a:srgbClr val="112033"/>
                </a:solidFill>
              </a:rPr>
              <a:t>Παράθυρο εισόδου</a:t>
            </a:r>
            <a:endParaRPr lang="en-US" sz="1350" dirty="0"/>
          </a:p>
          <a:p>
            <a:pPr marL="0" indent="0" algn="ctr">
              <a:buNone/>
            </a:pPr>
            <a:r>
              <a:rPr lang="en-US" sz="1350" dirty="0">
                <a:solidFill>
                  <a:srgbClr val="112033"/>
                </a:solidFill>
              </a:rPr>
              <a:t>τελευταίες 60 ημέρες</a:t>
            </a:r>
            <a:endParaRPr lang="en-US" sz="1350" dirty="0"/>
          </a:p>
        </p:txBody>
      </p:sp>
      <p:sp>
        <p:nvSpPr>
          <p:cNvPr id="10" name="Text 8"/>
          <p:cNvSpPr/>
          <p:nvPr/>
        </p:nvSpPr>
        <p:spPr>
          <a:xfrm>
            <a:off x="7296912" y="2249424"/>
            <a:ext cx="320040" cy="320040"/>
          </a:xfrm>
          <a:prstGeom prst="rect">
            <a:avLst/>
          </a:prstGeom>
          <a:noFill/>
        </p:spPr>
        <p:txBody>
          <a:bodyPr wrap="square" lIns="0" tIns="0" rIns="0" bIns="0" rtlCol="0" anchor="ctr"/>
          <a:lstStyle/>
          <a:p>
            <a:pPr marL="0" indent="0" algn="ctr">
              <a:buNone/>
            </a:pPr>
            <a:r>
              <a:rPr lang="en-US" sz="2100" b="1" dirty="0">
                <a:solidFill>
                  <a:srgbClr val="52616B"/>
                </a:solidFill>
              </a:rPr>
              <a:t>→</a:t>
            </a:r>
            <a:endParaRPr lang="en-US" sz="2100" dirty="0"/>
          </a:p>
        </p:txBody>
      </p:sp>
      <p:sp>
        <p:nvSpPr>
          <p:cNvPr id="11" name="Text 9"/>
          <p:cNvSpPr/>
          <p:nvPr/>
        </p:nvSpPr>
        <p:spPr>
          <a:xfrm>
            <a:off x="7680960" y="1965960"/>
            <a:ext cx="2057400" cy="914400"/>
          </a:xfrm>
          <a:prstGeom prst="rect">
            <a:avLst/>
          </a:prstGeom>
          <a:solidFill>
            <a:srgbClr val="FEF3C7"/>
          </a:solidFill>
          <a:ln w="12700">
            <a:solidFill>
              <a:srgbClr val="FDE68A"/>
            </a:solidFill>
          </a:ln>
        </p:spPr>
        <p:txBody>
          <a:bodyPr wrap="square" lIns="1016" tIns="1016" rIns="1016" bIns="1016" rtlCol="0" anchor="ctr">
            <a:normAutofit/>
          </a:bodyPr>
          <a:lstStyle/>
          <a:p>
            <a:pPr marL="0" indent="0" algn="ctr">
              <a:buNone/>
            </a:pPr>
            <a:r>
              <a:rPr lang="en-US" sz="1350" dirty="0">
                <a:solidFill>
                  <a:srgbClr val="112033"/>
                </a:solidFill>
              </a:rPr>
              <a:t>Νευρωνικά μοντέλα</a:t>
            </a:r>
            <a:endParaRPr lang="en-US" sz="1350" dirty="0"/>
          </a:p>
          <a:p>
            <a:pPr marL="0" indent="0" algn="ctr">
              <a:buNone/>
            </a:pPr>
            <a:r>
              <a:rPr lang="en-US" sz="1350" dirty="0">
                <a:solidFill>
                  <a:srgbClr val="112033"/>
                </a:solidFill>
              </a:rPr>
              <a:t>CNN / TDNN / CNN–LSTM</a:t>
            </a:r>
            <a:endParaRPr lang="en-US" sz="1350" dirty="0"/>
          </a:p>
        </p:txBody>
      </p:sp>
      <p:sp>
        <p:nvSpPr>
          <p:cNvPr id="12" name="Text 10"/>
          <p:cNvSpPr/>
          <p:nvPr/>
        </p:nvSpPr>
        <p:spPr>
          <a:xfrm>
            <a:off x="9829800" y="2249424"/>
            <a:ext cx="320040" cy="320040"/>
          </a:xfrm>
          <a:prstGeom prst="rect">
            <a:avLst/>
          </a:prstGeom>
          <a:noFill/>
        </p:spPr>
        <p:txBody>
          <a:bodyPr wrap="square" lIns="0" tIns="0" rIns="0" bIns="0" rtlCol="0" anchor="ctr"/>
          <a:lstStyle/>
          <a:p>
            <a:pPr marL="0" indent="0" algn="ctr">
              <a:buNone/>
            </a:pPr>
            <a:r>
              <a:rPr lang="en-US" sz="2100" b="1" dirty="0">
                <a:solidFill>
                  <a:srgbClr val="52616B"/>
                </a:solidFill>
              </a:rPr>
              <a:t>→</a:t>
            </a:r>
            <a:endParaRPr lang="en-US" sz="2100" dirty="0"/>
          </a:p>
        </p:txBody>
      </p:sp>
      <p:sp>
        <p:nvSpPr>
          <p:cNvPr id="13" name="Text 11"/>
          <p:cNvSpPr/>
          <p:nvPr/>
        </p:nvSpPr>
        <p:spPr>
          <a:xfrm>
            <a:off x="10195560" y="1965960"/>
            <a:ext cx="1508760" cy="914400"/>
          </a:xfrm>
          <a:prstGeom prst="rect">
            <a:avLst/>
          </a:prstGeom>
          <a:solidFill>
            <a:srgbClr val="FFE4E6"/>
          </a:solidFill>
          <a:ln w="12700">
            <a:solidFill>
              <a:srgbClr val="FDA4AF"/>
            </a:solidFill>
          </a:ln>
        </p:spPr>
        <p:txBody>
          <a:bodyPr wrap="square" lIns="1016" tIns="1016" rIns="1016" bIns="1016" rtlCol="0" anchor="ctr">
            <a:normAutofit/>
          </a:bodyPr>
          <a:lstStyle/>
          <a:p>
            <a:pPr marL="0" indent="0" algn="ctr">
              <a:buNone/>
            </a:pPr>
            <a:r>
              <a:rPr lang="en-US" sz="1350" dirty="0">
                <a:solidFill>
                  <a:srgbClr val="112033"/>
                </a:solidFill>
              </a:rPr>
              <a:t>Ημερήσια καμπύλη</a:t>
            </a:r>
            <a:endParaRPr lang="en-US" sz="1350" dirty="0"/>
          </a:p>
          <a:p>
            <a:pPr marL="0" indent="0" algn="ctr">
              <a:buNone/>
            </a:pPr>
            <a:r>
              <a:rPr lang="en-US" sz="1350" dirty="0">
                <a:solidFill>
                  <a:srgbClr val="112033"/>
                </a:solidFill>
              </a:rPr>
              <a:t>πρόβλεψης</a:t>
            </a:r>
            <a:endParaRPr lang="en-US" sz="1350" dirty="0"/>
          </a:p>
        </p:txBody>
      </p:sp>
      <p:sp>
        <p:nvSpPr>
          <p:cNvPr id="14" name="Text 12"/>
          <p:cNvSpPr/>
          <p:nvPr/>
        </p:nvSpPr>
        <p:spPr>
          <a:xfrm>
            <a:off x="914400" y="3822192"/>
            <a:ext cx="10332720" cy="1371600"/>
          </a:xfrm>
          <a:prstGeom prst="rect">
            <a:avLst/>
          </a:prstGeom>
          <a:noFill/>
        </p:spPr>
        <p:txBody>
          <a:bodyPr wrap="square" lIns="635" tIns="635" rIns="635" bIns="635" rtlCol="0" anchor="t">
            <a:normAutofit/>
          </a:bodyPr>
          <a:lstStyle/>
          <a:p>
            <a:pPr marL="0" indent="0">
              <a:buNone/>
            </a:pPr>
            <a:r>
              <a:rPr lang="en-US" sz="1600" dirty="0">
                <a:solidFill>
                  <a:srgbClr val="112033"/>
                </a:solidFill>
              </a:rPr>
              <a:t>• Το σύστημα εκπαιδεύεται σε παλιές ημερομηνίες όπου οι μελλοντικές τιμές είναι γνωστές.
</a:t>
            </a:r>
            <a:r>
              <a:rPr lang="en-US" sz="1600" dirty="0">
                <a:solidFill>
                  <a:srgbClr val="112033"/>
                </a:solidFill>
              </a:rPr>
              <a:t>• Στην πρόβλεψη χρησιμοποιεί μόνο το τελευταίο πραγματικό ιστορικό παράθυρο.
</a:t>
            </a:r>
            <a:r>
              <a:rPr lang="en-US" sz="1600" dirty="0">
                <a:solidFill>
                  <a:srgbClr val="112033"/>
                </a:solidFill>
              </a:rPr>
              <a:t>• Το αποτέλεσμα είναι προβλεπόμενες τιμές για κάθε μελλοντική χρηματιστηριακή ημέρα.</a:t>
            </a:r>
            <a:endParaRPr lang="en-US" sz="1600" dirty="0"/>
          </a:p>
        </p:txBody>
      </p:sp>
      <p:sp>
        <p:nvSpPr>
          <p:cNvPr id="15" name="Text 13"/>
          <p:cNvSpPr/>
          <p:nvPr/>
        </p:nvSpPr>
        <p:spPr>
          <a:xfrm>
            <a:off x="1828800" y="5422392"/>
            <a:ext cx="8503920" cy="502920"/>
          </a:xfrm>
          <a:prstGeom prst="rect">
            <a:avLst/>
          </a:prstGeom>
          <a:solidFill>
            <a:srgbClr val="FFFFFF"/>
          </a:solidFill>
          <a:ln w="19050">
            <a:solidFill>
              <a:srgbClr val="008C95"/>
            </a:solidFill>
          </a:ln>
        </p:spPr>
        <p:txBody>
          <a:bodyPr wrap="square" lIns="1016" tIns="1016" rIns="1016" bIns="1016" rtlCol="0" anchor="ctr">
            <a:normAutofit/>
          </a:bodyPr>
          <a:lstStyle/>
          <a:p>
            <a:pPr marL="0" indent="0" algn="ctr">
              <a:buNone/>
            </a:pPr>
            <a:r>
              <a:rPr lang="en-US" sz="1800" b="1" dirty="0">
                <a:solidFill>
                  <a:srgbClr val="112033"/>
                </a:solidFill>
              </a:rPr>
              <a:t>input: Xₜ ∈ ℝᴸˣᵈ   →   output: ŷₜ ∈ ℝᴴ</a:t>
            </a:r>
            <a:endParaRPr lang="en-US" sz="1800" dirty="0"/>
          </a:p>
        </p:txBody>
      </p:sp>
      <p:sp>
        <p:nvSpPr>
          <p:cNvPr id="16" name="Text 14"/>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7" name="Text 15"/>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881360" cy="502920"/>
          </a:xfrm>
          <a:prstGeom prst="rect">
            <a:avLst/>
          </a:prstGeom>
          <a:noFill/>
        </p:spPr>
        <p:txBody>
          <a:bodyPr wrap="square" lIns="0" tIns="0" rIns="0" bIns="0" rtlCol="0" anchor="ctr"/>
          <a:lstStyle/>
          <a:p>
            <a:pPr marL="0" indent="0">
              <a:buNone/>
            </a:pPr>
            <a:r>
              <a:rPr lang="en-US" sz="3000" b="1" dirty="0">
                <a:solidFill>
                  <a:srgbClr val="14213D"/>
                </a:solidFill>
                <a:latin typeface="Aptos Display" pitchFamily="34" charset="0"/>
                <a:ea typeface="Aptos Display" pitchFamily="34" charset="-122"/>
                <a:cs typeface="Aptos Display" pitchFamily="34" charset="-120"/>
              </a:rPr>
              <a:t>3. Πώς επιλέγουμε και υπολογίζουμε τα inputs</a:t>
            </a:r>
            <a:endParaRPr lang="en-US" sz="3000" dirty="0"/>
          </a:p>
        </p:txBody>
      </p:sp>
      <p:sp>
        <p:nvSpPr>
          <p:cNvPr id="3" name="Text 1"/>
          <p:cNvSpPr/>
          <p:nvPr/>
        </p:nvSpPr>
        <p:spPr>
          <a:xfrm>
            <a:off x="530352" y="868680"/>
            <a:ext cx="10972800" cy="320040"/>
          </a:xfrm>
          <a:prstGeom prst="rect">
            <a:avLst/>
          </a:prstGeom>
          <a:noFill/>
        </p:spPr>
        <p:txBody>
          <a:bodyPr wrap="square" lIns="0" tIns="0" rIns="0" bIns="0" rtlCol="0" anchor="ctr"/>
          <a:lstStyle/>
          <a:p>
            <a:pPr marL="0" indent="0">
              <a:buNone/>
            </a:pPr>
            <a:r>
              <a:rPr lang="en-US" sz="1400" dirty="0">
                <a:solidFill>
                  <a:srgbClr val="5F6F7D"/>
                </a:solidFill>
              </a:rPr>
              <a:t>Κάθε ημέρα μετατρέπεται σε διάνυσμα χαρακτηριστικών γνωστών μέχρι εκείνη τη μέρα — χωρίς μελλοντική πληροφορία.</a:t>
            </a:r>
            <a:endParaRPr lang="en-US" sz="1400" dirty="0"/>
          </a:p>
        </p:txBody>
      </p:sp>
      <p:sp>
        <p:nvSpPr>
          <p:cNvPr id="4" name="Shape 2"/>
          <p:cNvSpPr/>
          <p:nvPr/>
        </p:nvSpPr>
        <p:spPr>
          <a:xfrm>
            <a:off x="530352" y="1234440"/>
            <a:ext cx="1097280" cy="54864"/>
          </a:xfrm>
          <a:prstGeom prst="rect">
            <a:avLst/>
          </a:prstGeom>
          <a:solidFill>
            <a:srgbClr val="0E9AA7"/>
          </a:solidFill>
          <a:ln w="12700">
            <a:solidFill>
              <a:srgbClr val="0E9AA7"/>
            </a:solidFill>
            <a:prstDash val="solid"/>
          </a:ln>
        </p:spPr>
      </p:sp>
      <p:sp>
        <p:nvSpPr>
          <p:cNvPr id="5" name="Shape 3"/>
          <p:cNvSpPr/>
          <p:nvPr/>
        </p:nvSpPr>
        <p:spPr>
          <a:xfrm>
            <a:off x="621792" y="1572768"/>
            <a:ext cx="2743200" cy="868680"/>
          </a:xfrm>
          <a:prstGeom prst="roundRect">
            <a:avLst>
              <a:gd name="adj" fmla="val 8421"/>
            </a:avLst>
          </a:prstGeom>
          <a:solidFill>
            <a:srgbClr val="E8F5FB"/>
          </a:solidFill>
          <a:ln w="15240">
            <a:solidFill>
              <a:srgbClr val="9AD7F5"/>
            </a:solidFill>
            <a:prstDash val="solid"/>
          </a:ln>
        </p:spPr>
      </p:sp>
      <p:sp>
        <p:nvSpPr>
          <p:cNvPr id="6" name="Text 4"/>
          <p:cNvSpPr/>
          <p:nvPr/>
        </p:nvSpPr>
        <p:spPr>
          <a:xfrm>
            <a:off x="786384" y="1719072"/>
            <a:ext cx="2414016" cy="228600"/>
          </a:xfrm>
          <a:prstGeom prst="rect">
            <a:avLst/>
          </a:prstGeom>
          <a:noFill/>
        </p:spPr>
        <p:txBody>
          <a:bodyPr wrap="square" lIns="0" tIns="0" rIns="0" bIns="0" rtlCol="0" anchor="ctr"/>
          <a:lstStyle/>
          <a:p>
            <a:pPr marL="0" indent="0" algn="ctr">
              <a:buNone/>
            </a:pPr>
            <a:r>
              <a:rPr lang="en-US" sz="1500" b="1" dirty="0">
                <a:solidFill>
                  <a:srgbClr val="14213D"/>
                </a:solidFill>
              </a:rPr>
              <a:t>Αρχικά δεδομένα</a:t>
            </a:r>
            <a:endParaRPr lang="en-US" sz="1500" dirty="0"/>
          </a:p>
        </p:txBody>
      </p:sp>
      <p:sp>
        <p:nvSpPr>
          <p:cNvPr id="7" name="Text 5"/>
          <p:cNvSpPr/>
          <p:nvPr/>
        </p:nvSpPr>
        <p:spPr>
          <a:xfrm>
            <a:off x="768096" y="2011680"/>
            <a:ext cx="2450592" cy="320040"/>
          </a:xfrm>
          <a:prstGeom prst="rect">
            <a:avLst/>
          </a:prstGeom>
          <a:noFill/>
        </p:spPr>
        <p:txBody>
          <a:bodyPr wrap="square" lIns="254" tIns="254" rIns="254" bIns="254" rtlCol="0" anchor="ctr">
            <a:normAutofit/>
          </a:bodyPr>
          <a:lstStyle/>
          <a:p>
            <a:pPr marL="0" indent="0" algn="ctr">
              <a:buNone/>
            </a:pPr>
            <a:r>
              <a:rPr lang="en-US" sz="1220" dirty="0">
                <a:solidFill>
                  <a:srgbClr val="14213D"/>
                </a:solidFill>
              </a:rPr>
              <a:t>Open, High, Low, Close, Volume</a:t>
            </a:r>
            <a:endParaRPr lang="en-US" sz="1220" dirty="0"/>
          </a:p>
        </p:txBody>
      </p:sp>
      <p:sp>
        <p:nvSpPr>
          <p:cNvPr id="8" name="Shape 6"/>
          <p:cNvSpPr/>
          <p:nvPr/>
        </p:nvSpPr>
        <p:spPr>
          <a:xfrm>
            <a:off x="4718304" y="1572768"/>
            <a:ext cx="2743200" cy="868680"/>
          </a:xfrm>
          <a:prstGeom prst="roundRect">
            <a:avLst>
              <a:gd name="adj" fmla="val 8421"/>
            </a:avLst>
          </a:prstGeom>
          <a:solidFill>
            <a:srgbClr val="EAF8F0"/>
          </a:solidFill>
          <a:ln w="15240">
            <a:solidFill>
              <a:srgbClr val="7BE3B3"/>
            </a:solidFill>
            <a:prstDash val="solid"/>
          </a:ln>
        </p:spPr>
      </p:sp>
      <p:sp>
        <p:nvSpPr>
          <p:cNvPr id="9" name="Text 7"/>
          <p:cNvSpPr/>
          <p:nvPr/>
        </p:nvSpPr>
        <p:spPr>
          <a:xfrm>
            <a:off x="4882896" y="1719072"/>
            <a:ext cx="2414016" cy="228600"/>
          </a:xfrm>
          <a:prstGeom prst="rect">
            <a:avLst/>
          </a:prstGeom>
          <a:noFill/>
        </p:spPr>
        <p:txBody>
          <a:bodyPr wrap="square" lIns="0" tIns="0" rIns="0" bIns="0" rtlCol="0" anchor="ctr"/>
          <a:lstStyle/>
          <a:p>
            <a:pPr marL="0" indent="0" algn="ctr">
              <a:buNone/>
            </a:pPr>
            <a:r>
              <a:rPr lang="en-US" sz="1500" b="1" dirty="0">
                <a:solidFill>
                  <a:srgbClr val="14213D"/>
                </a:solidFill>
              </a:rPr>
              <a:t>Υπολογισμένα features</a:t>
            </a:r>
            <a:endParaRPr lang="en-US" sz="1500" dirty="0"/>
          </a:p>
        </p:txBody>
      </p:sp>
      <p:sp>
        <p:nvSpPr>
          <p:cNvPr id="10" name="Text 8"/>
          <p:cNvSpPr/>
          <p:nvPr/>
        </p:nvSpPr>
        <p:spPr>
          <a:xfrm>
            <a:off x="4864608" y="2011680"/>
            <a:ext cx="2450592" cy="320040"/>
          </a:xfrm>
          <a:prstGeom prst="rect">
            <a:avLst/>
          </a:prstGeom>
          <a:noFill/>
        </p:spPr>
        <p:txBody>
          <a:bodyPr wrap="square" lIns="254" tIns="254" rIns="254" bIns="254" rtlCol="0" anchor="ctr">
            <a:normAutofit/>
          </a:bodyPr>
          <a:lstStyle/>
          <a:p>
            <a:pPr marL="0" indent="0" algn="ctr">
              <a:buNone/>
            </a:pPr>
            <a:r>
              <a:rPr lang="en-US" sz="1220" dirty="0">
                <a:solidFill>
                  <a:srgbClr val="14213D"/>
                </a:solidFill>
              </a:rPr>
              <a:t>Returns, MA, RSI, MACD, Bollinger, ATR</a:t>
            </a:r>
            <a:endParaRPr lang="en-US" sz="1220" dirty="0"/>
          </a:p>
        </p:txBody>
      </p:sp>
      <p:sp>
        <p:nvSpPr>
          <p:cNvPr id="11" name="Shape 9"/>
          <p:cNvSpPr/>
          <p:nvPr/>
        </p:nvSpPr>
        <p:spPr>
          <a:xfrm>
            <a:off x="8823960" y="1572768"/>
            <a:ext cx="2743200" cy="868680"/>
          </a:xfrm>
          <a:prstGeom prst="roundRect">
            <a:avLst>
              <a:gd name="adj" fmla="val 8421"/>
            </a:avLst>
          </a:prstGeom>
          <a:solidFill>
            <a:srgbClr val="EEEAFB"/>
          </a:solidFill>
          <a:ln w="15240">
            <a:solidFill>
              <a:srgbClr val="C4B7FF"/>
            </a:solidFill>
            <a:prstDash val="solid"/>
          </a:ln>
        </p:spPr>
      </p:sp>
      <p:sp>
        <p:nvSpPr>
          <p:cNvPr id="12" name="Text 10"/>
          <p:cNvSpPr/>
          <p:nvPr/>
        </p:nvSpPr>
        <p:spPr>
          <a:xfrm>
            <a:off x="8988552" y="1719072"/>
            <a:ext cx="2414016" cy="228600"/>
          </a:xfrm>
          <a:prstGeom prst="rect">
            <a:avLst/>
          </a:prstGeom>
          <a:noFill/>
        </p:spPr>
        <p:txBody>
          <a:bodyPr wrap="square" lIns="0" tIns="0" rIns="0" bIns="0" rtlCol="0" anchor="ctr"/>
          <a:lstStyle/>
          <a:p>
            <a:pPr marL="0" indent="0" algn="ctr">
              <a:buNone/>
            </a:pPr>
            <a:r>
              <a:rPr lang="en-US" sz="1500" b="1" dirty="0">
                <a:solidFill>
                  <a:srgbClr val="14213D"/>
                </a:solidFill>
              </a:rPr>
              <a:t>Τελικό input</a:t>
            </a:r>
            <a:endParaRPr lang="en-US" sz="1500" dirty="0"/>
          </a:p>
        </p:txBody>
      </p:sp>
      <p:sp>
        <p:nvSpPr>
          <p:cNvPr id="13" name="Text 11"/>
          <p:cNvSpPr/>
          <p:nvPr/>
        </p:nvSpPr>
        <p:spPr>
          <a:xfrm>
            <a:off x="8970264" y="2011680"/>
            <a:ext cx="2450592" cy="320040"/>
          </a:xfrm>
          <a:prstGeom prst="rect">
            <a:avLst/>
          </a:prstGeom>
          <a:noFill/>
        </p:spPr>
        <p:txBody>
          <a:bodyPr wrap="square" lIns="254" tIns="254" rIns="254" bIns="254" rtlCol="0" anchor="ctr">
            <a:normAutofit/>
          </a:bodyPr>
          <a:lstStyle/>
          <a:p>
            <a:pPr marL="0" indent="0" algn="ctr">
              <a:buNone/>
            </a:pPr>
            <a:r>
              <a:rPr lang="en-US" sz="1220" dirty="0">
                <a:solidFill>
                  <a:srgbClr val="14213D"/>
                </a:solidFill>
              </a:rPr>
              <a:t>Παράθυρο 60 ημερών:  Xₜ ∈ ℝ⁶⁰ˣᵈ</a:t>
            </a:r>
            <a:endParaRPr lang="en-US" sz="1220" dirty="0"/>
          </a:p>
        </p:txBody>
      </p:sp>
      <p:sp>
        <p:nvSpPr>
          <p:cNvPr id="14" name="Shape 12"/>
          <p:cNvSpPr/>
          <p:nvPr/>
        </p:nvSpPr>
        <p:spPr>
          <a:xfrm>
            <a:off x="3529584" y="2002536"/>
            <a:ext cx="969264" cy="0"/>
          </a:xfrm>
          <a:prstGeom prst="line">
            <a:avLst/>
          </a:prstGeom>
          <a:noFill/>
          <a:ln w="25400">
            <a:solidFill>
              <a:srgbClr val="0E9AA7"/>
            </a:solidFill>
            <a:prstDash val="solid"/>
            <a:headEnd type="none"/>
            <a:tailEnd type="triangle"/>
          </a:ln>
        </p:spPr>
      </p:sp>
      <p:sp>
        <p:nvSpPr>
          <p:cNvPr id="15" name="Shape 13"/>
          <p:cNvSpPr/>
          <p:nvPr/>
        </p:nvSpPr>
        <p:spPr>
          <a:xfrm>
            <a:off x="7626096" y="2002536"/>
            <a:ext cx="969264" cy="0"/>
          </a:xfrm>
          <a:prstGeom prst="line">
            <a:avLst/>
          </a:prstGeom>
          <a:noFill/>
          <a:ln w="25400">
            <a:solidFill>
              <a:srgbClr val="0E9AA7"/>
            </a:solidFill>
            <a:prstDash val="solid"/>
            <a:headEnd type="none"/>
            <a:tailEnd type="triangle"/>
          </a:ln>
        </p:spPr>
      </p:sp>
      <p:sp>
        <p:nvSpPr>
          <p:cNvPr id="16" name="Shape 14"/>
          <p:cNvSpPr/>
          <p:nvPr/>
        </p:nvSpPr>
        <p:spPr>
          <a:xfrm>
            <a:off x="594360" y="2697480"/>
            <a:ext cx="11018520" cy="530352"/>
          </a:xfrm>
          <a:prstGeom prst="roundRect">
            <a:avLst>
              <a:gd name="adj" fmla="val 10345"/>
            </a:avLst>
          </a:prstGeom>
          <a:solidFill>
            <a:srgbClr val="FFFFFF"/>
          </a:solidFill>
          <a:ln w="12700">
            <a:solidFill>
              <a:srgbClr val="DDE6ED"/>
            </a:solidFill>
            <a:prstDash val="solid"/>
          </a:ln>
        </p:spPr>
      </p:sp>
      <p:sp>
        <p:nvSpPr>
          <p:cNvPr id="17" name="Text 15"/>
          <p:cNvSpPr/>
          <p:nvPr/>
        </p:nvSpPr>
        <p:spPr>
          <a:xfrm>
            <a:off x="822960" y="2852928"/>
            <a:ext cx="10561320" cy="228600"/>
          </a:xfrm>
          <a:prstGeom prst="rect">
            <a:avLst/>
          </a:prstGeom>
          <a:noFill/>
        </p:spPr>
        <p:txBody>
          <a:bodyPr wrap="square" lIns="0" tIns="0" rIns="0" bIns="0" rtlCol="0" anchor="ctr"/>
          <a:lstStyle/>
          <a:p>
            <a:pPr marL="0" indent="0" algn="ctr">
              <a:buNone/>
            </a:pPr>
            <a:r>
              <a:rPr lang="en-US" sz="1450" b="1" dirty="0">
                <a:solidFill>
                  <a:srgbClr val="14213D"/>
                </a:solidFill>
              </a:rPr>
              <a:t>Βασικός κανόνας: κάθε χαρακτηριστικό υπολογίζεται μόνο από παρελθοντικές και τρέχουσες τιμές.</a:t>
            </a:r>
            <a:endParaRPr lang="en-US" sz="1450" dirty="0"/>
          </a:p>
        </p:txBody>
      </p:sp>
      <p:sp>
        <p:nvSpPr>
          <p:cNvPr id="18" name="Text 16"/>
          <p:cNvSpPr/>
          <p:nvPr/>
        </p:nvSpPr>
        <p:spPr>
          <a:xfrm>
            <a:off x="594360" y="3456432"/>
            <a:ext cx="5486400" cy="320040"/>
          </a:xfrm>
          <a:prstGeom prst="rect">
            <a:avLst/>
          </a:prstGeom>
          <a:noFill/>
        </p:spPr>
        <p:txBody>
          <a:bodyPr wrap="square" lIns="0" tIns="0" rIns="0" bIns="0" rtlCol="0" anchor="ctr"/>
          <a:lstStyle/>
          <a:p>
            <a:pPr marL="0" indent="0">
              <a:buNone/>
            </a:pPr>
            <a:r>
              <a:rPr lang="en-US" sz="2000" b="1" dirty="0">
                <a:solidFill>
                  <a:srgbClr val="14213D"/>
                </a:solidFill>
              </a:rPr>
              <a:t>Πώς υπολογίζονται οι βασικοί δείκτες</a:t>
            </a:r>
            <a:endParaRPr lang="en-US" sz="2000" dirty="0"/>
          </a:p>
        </p:txBody>
      </p:sp>
      <p:sp>
        <p:nvSpPr>
          <p:cNvPr id="19" name="Text 17"/>
          <p:cNvSpPr/>
          <p:nvPr/>
        </p:nvSpPr>
        <p:spPr>
          <a:xfrm>
            <a:off x="6172200" y="3502152"/>
            <a:ext cx="5303520" cy="274320"/>
          </a:xfrm>
          <a:prstGeom prst="rect">
            <a:avLst/>
          </a:prstGeom>
          <a:noFill/>
        </p:spPr>
        <p:txBody>
          <a:bodyPr wrap="square" lIns="0" tIns="0" rIns="0" bIns="0" rtlCol="0" anchor="ctr"/>
          <a:lstStyle/>
          <a:p>
            <a:pPr marL="0" indent="0" algn="r">
              <a:buNone/>
            </a:pPr>
            <a:r>
              <a:rPr lang="en-US" sz="1250" dirty="0">
                <a:solidFill>
                  <a:srgbClr val="5F6F7D"/>
                </a:solidFill>
              </a:rPr>
              <a:t>Οι δείκτες είναι επιπλέον inputs που περιγράφουν τάση, ορμή και μεταβλητότητα.</a:t>
            </a:r>
            <a:endParaRPr lang="en-US" sz="1250" dirty="0"/>
          </a:p>
        </p:txBody>
      </p:sp>
      <p:sp>
        <p:nvSpPr>
          <p:cNvPr id="20" name="Shape 18"/>
          <p:cNvSpPr/>
          <p:nvPr/>
        </p:nvSpPr>
        <p:spPr>
          <a:xfrm>
            <a:off x="594360" y="3886200"/>
            <a:ext cx="2578608" cy="1078992"/>
          </a:xfrm>
          <a:prstGeom prst="roundRect">
            <a:avLst>
              <a:gd name="adj" fmla="val 6780"/>
            </a:avLst>
          </a:prstGeom>
          <a:solidFill>
            <a:srgbClr val="FFF7E3"/>
          </a:solidFill>
          <a:ln w="13970">
            <a:solidFill>
              <a:srgbClr val="F4B942"/>
            </a:solidFill>
            <a:prstDash val="solid"/>
          </a:ln>
        </p:spPr>
      </p:sp>
      <p:sp>
        <p:nvSpPr>
          <p:cNvPr id="21" name="Text 19"/>
          <p:cNvSpPr/>
          <p:nvPr/>
        </p:nvSpPr>
        <p:spPr>
          <a:xfrm>
            <a:off x="740664" y="4014216"/>
            <a:ext cx="2286000" cy="228600"/>
          </a:xfrm>
          <a:prstGeom prst="rect">
            <a:avLst/>
          </a:prstGeom>
          <a:noFill/>
        </p:spPr>
        <p:txBody>
          <a:bodyPr wrap="square" lIns="0" tIns="0" rIns="0" bIns="0" rtlCol="0" anchor="ctr"/>
          <a:lstStyle/>
          <a:p>
            <a:pPr marL="0" indent="0">
              <a:buNone/>
            </a:pPr>
            <a:r>
              <a:rPr lang="en-US" sz="1400" b="1" dirty="0">
                <a:solidFill>
                  <a:srgbClr val="14213D"/>
                </a:solidFill>
              </a:rPr>
              <a:t>RSI</a:t>
            </a:r>
            <a:endParaRPr lang="en-US" sz="1400" dirty="0"/>
          </a:p>
        </p:txBody>
      </p:sp>
      <p:sp>
        <p:nvSpPr>
          <p:cNvPr id="22" name="Text 20"/>
          <p:cNvSpPr/>
          <p:nvPr/>
        </p:nvSpPr>
        <p:spPr>
          <a:xfrm>
            <a:off x="740664" y="4297680"/>
            <a:ext cx="2286000" cy="438912"/>
          </a:xfrm>
          <a:prstGeom prst="rect">
            <a:avLst/>
          </a:prstGeom>
          <a:noFill/>
        </p:spPr>
        <p:txBody>
          <a:bodyPr wrap="square" lIns="254" tIns="254" rIns="254" bIns="254" rtlCol="0" anchor="ctr">
            <a:normAutofit/>
          </a:bodyPr>
          <a:lstStyle/>
          <a:p>
            <a:pPr marL="0" indent="0">
              <a:buNone/>
            </a:pPr>
            <a:r>
              <a:rPr lang="en-US" sz="1020" dirty="0">
                <a:solidFill>
                  <a:srgbClr val="14213D"/>
                </a:solidFill>
              </a:rPr>
              <a:t>Από μέσο κέρδος / μέση ζημιά 14 ημερών</a:t>
            </a:r>
            <a:endParaRPr lang="en-US" sz="1020" dirty="0"/>
          </a:p>
          <a:p>
            <a:pPr marL="0" indent="0">
              <a:buNone/>
            </a:pPr>
            <a:r>
              <a:rPr lang="en-US" sz="1020" dirty="0">
                <a:solidFill>
                  <a:srgbClr val="14213D"/>
                </a:solidFill>
              </a:rPr>
              <a:t>RSI = 100 − 100/(1+RS)</a:t>
            </a:r>
            <a:endParaRPr lang="en-US" sz="1020" dirty="0"/>
          </a:p>
        </p:txBody>
      </p:sp>
      <p:sp>
        <p:nvSpPr>
          <p:cNvPr id="23" name="Text 21"/>
          <p:cNvSpPr/>
          <p:nvPr/>
        </p:nvSpPr>
        <p:spPr>
          <a:xfrm>
            <a:off x="740664" y="4764024"/>
            <a:ext cx="2286000" cy="146304"/>
          </a:xfrm>
          <a:prstGeom prst="rect">
            <a:avLst/>
          </a:prstGeom>
          <a:noFill/>
        </p:spPr>
        <p:txBody>
          <a:bodyPr wrap="square" lIns="0" tIns="0" rIns="0" bIns="0" rtlCol="0" anchor="ctr"/>
          <a:lstStyle/>
          <a:p>
            <a:pPr marL="0" indent="0" algn="r">
              <a:buNone/>
            </a:pPr>
            <a:r>
              <a:rPr lang="en-US" sz="820" b="1" dirty="0">
                <a:solidFill>
                  <a:srgbClr val="F4B942"/>
                </a:solidFill>
              </a:rPr>
              <a:t>ορμή</a:t>
            </a:r>
            <a:endParaRPr lang="en-US" sz="820" dirty="0"/>
          </a:p>
        </p:txBody>
      </p:sp>
      <p:sp>
        <p:nvSpPr>
          <p:cNvPr id="24" name="Shape 22"/>
          <p:cNvSpPr/>
          <p:nvPr/>
        </p:nvSpPr>
        <p:spPr>
          <a:xfrm>
            <a:off x="3456432" y="3886200"/>
            <a:ext cx="2578608" cy="1078992"/>
          </a:xfrm>
          <a:prstGeom prst="roundRect">
            <a:avLst>
              <a:gd name="adj" fmla="val 6780"/>
            </a:avLst>
          </a:prstGeom>
          <a:solidFill>
            <a:srgbClr val="EAF8F0"/>
          </a:solidFill>
          <a:ln w="13970">
            <a:solidFill>
              <a:srgbClr val="009B72"/>
            </a:solidFill>
            <a:prstDash val="solid"/>
          </a:ln>
        </p:spPr>
      </p:sp>
      <p:sp>
        <p:nvSpPr>
          <p:cNvPr id="25" name="Text 23"/>
          <p:cNvSpPr/>
          <p:nvPr/>
        </p:nvSpPr>
        <p:spPr>
          <a:xfrm>
            <a:off x="3602736" y="4014216"/>
            <a:ext cx="2286000" cy="228600"/>
          </a:xfrm>
          <a:prstGeom prst="rect">
            <a:avLst/>
          </a:prstGeom>
          <a:noFill/>
        </p:spPr>
        <p:txBody>
          <a:bodyPr wrap="square" lIns="0" tIns="0" rIns="0" bIns="0" rtlCol="0" anchor="ctr"/>
          <a:lstStyle/>
          <a:p>
            <a:pPr marL="0" indent="0">
              <a:buNone/>
            </a:pPr>
            <a:r>
              <a:rPr lang="en-US" sz="1400" b="1" dirty="0">
                <a:solidFill>
                  <a:srgbClr val="14213D"/>
                </a:solidFill>
              </a:rPr>
              <a:t>MACD</a:t>
            </a:r>
            <a:endParaRPr lang="en-US" sz="1400" dirty="0"/>
          </a:p>
        </p:txBody>
      </p:sp>
      <p:sp>
        <p:nvSpPr>
          <p:cNvPr id="26" name="Text 24"/>
          <p:cNvSpPr/>
          <p:nvPr/>
        </p:nvSpPr>
        <p:spPr>
          <a:xfrm>
            <a:off x="3602736" y="4297680"/>
            <a:ext cx="2286000" cy="438912"/>
          </a:xfrm>
          <a:prstGeom prst="rect">
            <a:avLst/>
          </a:prstGeom>
          <a:noFill/>
        </p:spPr>
        <p:txBody>
          <a:bodyPr wrap="square" lIns="254" tIns="254" rIns="254" bIns="254" rtlCol="0" anchor="ctr">
            <a:normAutofit/>
          </a:bodyPr>
          <a:lstStyle/>
          <a:p>
            <a:pPr marL="0" indent="0">
              <a:buNone/>
            </a:pPr>
            <a:r>
              <a:rPr lang="en-US" sz="1020" dirty="0">
                <a:solidFill>
                  <a:srgbClr val="14213D"/>
                </a:solidFill>
              </a:rPr>
              <a:t>Διαφορά εκθετικών κινητών μέσων</a:t>
            </a:r>
            <a:endParaRPr lang="en-US" sz="1020" dirty="0"/>
          </a:p>
          <a:p>
            <a:pPr marL="0" indent="0">
              <a:buNone/>
            </a:pPr>
            <a:r>
              <a:rPr lang="en-US" sz="1020" dirty="0">
                <a:solidFill>
                  <a:srgbClr val="14213D"/>
                </a:solidFill>
              </a:rPr>
              <a:t>MACD = EMA₁₂ − EMA₂₆</a:t>
            </a:r>
            <a:endParaRPr lang="en-US" sz="1020" dirty="0"/>
          </a:p>
        </p:txBody>
      </p:sp>
      <p:sp>
        <p:nvSpPr>
          <p:cNvPr id="27" name="Text 25"/>
          <p:cNvSpPr/>
          <p:nvPr/>
        </p:nvSpPr>
        <p:spPr>
          <a:xfrm>
            <a:off x="3602736" y="4764024"/>
            <a:ext cx="2286000" cy="146304"/>
          </a:xfrm>
          <a:prstGeom prst="rect">
            <a:avLst/>
          </a:prstGeom>
          <a:noFill/>
        </p:spPr>
        <p:txBody>
          <a:bodyPr wrap="square" lIns="0" tIns="0" rIns="0" bIns="0" rtlCol="0" anchor="ctr"/>
          <a:lstStyle/>
          <a:p>
            <a:pPr marL="0" indent="0" algn="r">
              <a:buNone/>
            </a:pPr>
            <a:r>
              <a:rPr lang="en-US" sz="820" b="1" dirty="0">
                <a:solidFill>
                  <a:srgbClr val="009B72"/>
                </a:solidFill>
              </a:rPr>
              <a:t>τάση</a:t>
            </a:r>
            <a:endParaRPr lang="en-US" sz="820" dirty="0"/>
          </a:p>
        </p:txBody>
      </p:sp>
      <p:sp>
        <p:nvSpPr>
          <p:cNvPr id="28" name="Shape 26"/>
          <p:cNvSpPr/>
          <p:nvPr/>
        </p:nvSpPr>
        <p:spPr>
          <a:xfrm>
            <a:off x="6318504" y="3886200"/>
            <a:ext cx="2578608" cy="1078992"/>
          </a:xfrm>
          <a:prstGeom prst="roundRect">
            <a:avLst>
              <a:gd name="adj" fmla="val 6780"/>
            </a:avLst>
          </a:prstGeom>
          <a:solidFill>
            <a:srgbClr val="E8F5FB"/>
          </a:solidFill>
          <a:ln w="13970">
            <a:solidFill>
              <a:srgbClr val="0E9AA7"/>
            </a:solidFill>
            <a:prstDash val="solid"/>
          </a:ln>
        </p:spPr>
      </p:sp>
      <p:sp>
        <p:nvSpPr>
          <p:cNvPr id="29" name="Text 27"/>
          <p:cNvSpPr/>
          <p:nvPr/>
        </p:nvSpPr>
        <p:spPr>
          <a:xfrm>
            <a:off x="6464808" y="4014216"/>
            <a:ext cx="2286000" cy="228600"/>
          </a:xfrm>
          <a:prstGeom prst="rect">
            <a:avLst/>
          </a:prstGeom>
          <a:noFill/>
        </p:spPr>
        <p:txBody>
          <a:bodyPr wrap="square" lIns="0" tIns="0" rIns="0" bIns="0" rtlCol="0" anchor="ctr"/>
          <a:lstStyle/>
          <a:p>
            <a:pPr marL="0" indent="0">
              <a:buNone/>
            </a:pPr>
            <a:r>
              <a:rPr lang="en-US" sz="1400" b="1" dirty="0">
                <a:solidFill>
                  <a:srgbClr val="14213D"/>
                </a:solidFill>
              </a:rPr>
              <a:t>Bollinger Bands</a:t>
            </a:r>
            <a:endParaRPr lang="en-US" sz="1400" dirty="0"/>
          </a:p>
        </p:txBody>
      </p:sp>
      <p:sp>
        <p:nvSpPr>
          <p:cNvPr id="30" name="Text 28"/>
          <p:cNvSpPr/>
          <p:nvPr/>
        </p:nvSpPr>
        <p:spPr>
          <a:xfrm>
            <a:off x="6464808" y="4297680"/>
            <a:ext cx="2286000" cy="438912"/>
          </a:xfrm>
          <a:prstGeom prst="rect">
            <a:avLst/>
          </a:prstGeom>
          <a:noFill/>
        </p:spPr>
        <p:txBody>
          <a:bodyPr wrap="square" lIns="254" tIns="254" rIns="254" bIns="254" rtlCol="0" anchor="ctr">
            <a:normAutofit/>
          </a:bodyPr>
          <a:lstStyle/>
          <a:p>
            <a:pPr marL="0" indent="0">
              <a:buNone/>
            </a:pPr>
            <a:r>
              <a:rPr lang="en-US" sz="1020" dirty="0">
                <a:solidFill>
                  <a:srgbClr val="14213D"/>
                </a:solidFill>
              </a:rPr>
              <a:t>Μέσος όρος 20 ημερών ± 2σ</a:t>
            </a:r>
            <a:endParaRPr lang="en-US" sz="1020" dirty="0"/>
          </a:p>
          <a:p>
            <a:pPr marL="0" indent="0">
              <a:buNone/>
            </a:pPr>
            <a:r>
              <a:rPr lang="en-US" sz="1020" dirty="0">
                <a:solidFill>
                  <a:srgbClr val="14213D"/>
                </a:solidFill>
              </a:rPr>
              <a:t>Upper = SMA₂₀ + 2σ, Lower = SMA₂₀ − 2σ</a:t>
            </a:r>
            <a:endParaRPr lang="en-US" sz="1020" dirty="0"/>
          </a:p>
        </p:txBody>
      </p:sp>
      <p:sp>
        <p:nvSpPr>
          <p:cNvPr id="31" name="Text 29"/>
          <p:cNvSpPr/>
          <p:nvPr/>
        </p:nvSpPr>
        <p:spPr>
          <a:xfrm>
            <a:off x="6464808" y="4764024"/>
            <a:ext cx="2286000" cy="146304"/>
          </a:xfrm>
          <a:prstGeom prst="rect">
            <a:avLst/>
          </a:prstGeom>
          <a:noFill/>
        </p:spPr>
        <p:txBody>
          <a:bodyPr wrap="square" lIns="0" tIns="0" rIns="0" bIns="0" rtlCol="0" anchor="ctr"/>
          <a:lstStyle/>
          <a:p>
            <a:pPr marL="0" indent="0" algn="r">
              <a:buNone/>
            </a:pPr>
            <a:r>
              <a:rPr lang="en-US" sz="820" b="1" dirty="0">
                <a:solidFill>
                  <a:srgbClr val="0E9AA7"/>
                </a:solidFill>
              </a:rPr>
              <a:t>μεταβλητότητα</a:t>
            </a:r>
            <a:endParaRPr lang="en-US" sz="820" dirty="0"/>
          </a:p>
        </p:txBody>
      </p:sp>
      <p:sp>
        <p:nvSpPr>
          <p:cNvPr id="32" name="Shape 30"/>
          <p:cNvSpPr/>
          <p:nvPr/>
        </p:nvSpPr>
        <p:spPr>
          <a:xfrm>
            <a:off x="9180576" y="3886200"/>
            <a:ext cx="2578608" cy="1078992"/>
          </a:xfrm>
          <a:prstGeom prst="roundRect">
            <a:avLst>
              <a:gd name="adj" fmla="val 6780"/>
            </a:avLst>
          </a:prstGeom>
          <a:solidFill>
            <a:srgbClr val="FDE7EB"/>
          </a:solidFill>
          <a:ln w="13970">
            <a:solidFill>
              <a:srgbClr val="E85D75"/>
            </a:solidFill>
            <a:prstDash val="solid"/>
          </a:ln>
        </p:spPr>
      </p:sp>
      <p:sp>
        <p:nvSpPr>
          <p:cNvPr id="33" name="Text 31"/>
          <p:cNvSpPr/>
          <p:nvPr/>
        </p:nvSpPr>
        <p:spPr>
          <a:xfrm>
            <a:off x="9326880" y="4014216"/>
            <a:ext cx="2286000" cy="228600"/>
          </a:xfrm>
          <a:prstGeom prst="rect">
            <a:avLst/>
          </a:prstGeom>
          <a:noFill/>
        </p:spPr>
        <p:txBody>
          <a:bodyPr wrap="square" lIns="0" tIns="0" rIns="0" bIns="0" rtlCol="0" anchor="ctr"/>
          <a:lstStyle/>
          <a:p>
            <a:pPr marL="0" indent="0">
              <a:buNone/>
            </a:pPr>
            <a:r>
              <a:rPr lang="en-US" sz="1400" b="1" dirty="0">
                <a:solidFill>
                  <a:srgbClr val="14213D"/>
                </a:solidFill>
              </a:rPr>
              <a:t>ATR</a:t>
            </a:r>
            <a:endParaRPr lang="en-US" sz="1400" dirty="0"/>
          </a:p>
        </p:txBody>
      </p:sp>
      <p:sp>
        <p:nvSpPr>
          <p:cNvPr id="34" name="Text 32"/>
          <p:cNvSpPr/>
          <p:nvPr/>
        </p:nvSpPr>
        <p:spPr>
          <a:xfrm>
            <a:off x="9326880" y="4297680"/>
            <a:ext cx="2286000" cy="438912"/>
          </a:xfrm>
          <a:prstGeom prst="rect">
            <a:avLst/>
          </a:prstGeom>
          <a:noFill/>
        </p:spPr>
        <p:txBody>
          <a:bodyPr wrap="square" lIns="254" tIns="254" rIns="254" bIns="254" rtlCol="0" anchor="ctr">
            <a:normAutofit/>
          </a:bodyPr>
          <a:lstStyle/>
          <a:p>
            <a:pPr marL="0" indent="0">
              <a:buNone/>
            </a:pPr>
            <a:r>
              <a:rPr lang="en-US" sz="1020" dirty="0">
                <a:solidFill>
                  <a:srgbClr val="14213D"/>
                </a:solidFill>
              </a:rPr>
              <a:t>Μέσο True Range 14 ημερών</a:t>
            </a:r>
            <a:endParaRPr lang="en-US" sz="1020" dirty="0"/>
          </a:p>
          <a:p>
            <a:pPr marL="0" indent="0">
              <a:buNone/>
            </a:pPr>
            <a:r>
              <a:rPr lang="en-US" sz="1020" dirty="0">
                <a:solidFill>
                  <a:srgbClr val="14213D"/>
                </a:solidFill>
              </a:rPr>
              <a:t>TR = max(H−L, |H−C₋₁|, |L−C₋₁|)</a:t>
            </a:r>
            <a:endParaRPr lang="en-US" sz="1020" dirty="0"/>
          </a:p>
        </p:txBody>
      </p:sp>
      <p:sp>
        <p:nvSpPr>
          <p:cNvPr id="35" name="Text 33"/>
          <p:cNvSpPr/>
          <p:nvPr/>
        </p:nvSpPr>
        <p:spPr>
          <a:xfrm>
            <a:off x="9326880" y="4764024"/>
            <a:ext cx="2286000" cy="146304"/>
          </a:xfrm>
          <a:prstGeom prst="rect">
            <a:avLst/>
          </a:prstGeom>
          <a:noFill/>
        </p:spPr>
        <p:txBody>
          <a:bodyPr wrap="square" lIns="0" tIns="0" rIns="0" bIns="0" rtlCol="0" anchor="ctr"/>
          <a:lstStyle/>
          <a:p>
            <a:pPr marL="0" indent="0" algn="r">
              <a:buNone/>
            </a:pPr>
            <a:r>
              <a:rPr lang="en-US" sz="820" b="1" dirty="0">
                <a:solidFill>
                  <a:srgbClr val="E85D75"/>
                </a:solidFill>
              </a:rPr>
              <a:t>εύρος</a:t>
            </a:r>
            <a:endParaRPr lang="en-US" sz="820" dirty="0"/>
          </a:p>
        </p:txBody>
      </p:sp>
      <p:sp>
        <p:nvSpPr>
          <p:cNvPr id="36" name="Shape 34"/>
          <p:cNvSpPr/>
          <p:nvPr/>
        </p:nvSpPr>
        <p:spPr>
          <a:xfrm>
            <a:off x="594360" y="5102352"/>
            <a:ext cx="3520440" cy="1078992"/>
          </a:xfrm>
          <a:prstGeom prst="roundRect">
            <a:avLst>
              <a:gd name="adj" fmla="val 6780"/>
            </a:avLst>
          </a:prstGeom>
          <a:solidFill>
            <a:srgbClr val="F1F5F9"/>
          </a:solidFill>
          <a:ln w="13970">
            <a:solidFill>
              <a:srgbClr val="B9C7D3"/>
            </a:solidFill>
            <a:prstDash val="solid"/>
          </a:ln>
        </p:spPr>
      </p:sp>
      <p:sp>
        <p:nvSpPr>
          <p:cNvPr id="37" name="Text 35"/>
          <p:cNvSpPr/>
          <p:nvPr/>
        </p:nvSpPr>
        <p:spPr>
          <a:xfrm>
            <a:off x="740664" y="5230368"/>
            <a:ext cx="3227832" cy="228600"/>
          </a:xfrm>
          <a:prstGeom prst="rect">
            <a:avLst/>
          </a:prstGeom>
          <a:noFill/>
        </p:spPr>
        <p:txBody>
          <a:bodyPr wrap="square" lIns="0" tIns="0" rIns="0" bIns="0" rtlCol="0" anchor="ctr"/>
          <a:lstStyle/>
          <a:p>
            <a:pPr marL="0" indent="0">
              <a:buNone/>
            </a:pPr>
            <a:r>
              <a:rPr lang="en-US" sz="1400" b="1" dirty="0">
                <a:solidFill>
                  <a:srgbClr val="14213D"/>
                </a:solidFill>
              </a:rPr>
              <a:t>Returns</a:t>
            </a:r>
            <a:endParaRPr lang="en-US" sz="1400" dirty="0"/>
          </a:p>
        </p:txBody>
      </p:sp>
      <p:sp>
        <p:nvSpPr>
          <p:cNvPr id="38" name="Text 36"/>
          <p:cNvSpPr/>
          <p:nvPr/>
        </p:nvSpPr>
        <p:spPr>
          <a:xfrm>
            <a:off x="740664" y="5513832"/>
            <a:ext cx="3227832" cy="438912"/>
          </a:xfrm>
          <a:prstGeom prst="rect">
            <a:avLst/>
          </a:prstGeom>
          <a:noFill/>
        </p:spPr>
        <p:txBody>
          <a:bodyPr wrap="square" lIns="254" tIns="254" rIns="254" bIns="254" rtlCol="0" anchor="ctr">
            <a:normAutofit/>
          </a:bodyPr>
          <a:lstStyle/>
          <a:p>
            <a:pPr marL="0" indent="0">
              <a:buNone/>
            </a:pPr>
            <a:r>
              <a:rPr lang="en-US" sz="1020" dirty="0">
                <a:solidFill>
                  <a:srgbClr val="14213D"/>
                </a:solidFill>
              </a:rPr>
              <a:t>Daily Return = (Cₜ−Cₜ₋₁)/Cₜ₋₁</a:t>
            </a:r>
            <a:endParaRPr lang="en-US" sz="1020" dirty="0"/>
          </a:p>
          <a:p>
            <a:pPr marL="0" indent="0">
              <a:buNone/>
            </a:pPr>
            <a:r>
              <a:rPr lang="en-US" sz="1020" dirty="0">
                <a:solidFill>
                  <a:srgbClr val="14213D"/>
                </a:solidFill>
              </a:rPr>
              <a:t>Log Return = ln(Cₜ/Cₜ₋₁)</a:t>
            </a:r>
            <a:endParaRPr lang="en-US" sz="1020" dirty="0"/>
          </a:p>
        </p:txBody>
      </p:sp>
      <p:sp>
        <p:nvSpPr>
          <p:cNvPr id="39" name="Text 37"/>
          <p:cNvSpPr/>
          <p:nvPr/>
        </p:nvSpPr>
        <p:spPr>
          <a:xfrm>
            <a:off x="740664" y="5980176"/>
            <a:ext cx="3227832" cy="146304"/>
          </a:xfrm>
          <a:prstGeom prst="rect">
            <a:avLst/>
          </a:prstGeom>
          <a:noFill/>
        </p:spPr>
        <p:txBody>
          <a:bodyPr wrap="square" lIns="0" tIns="0" rIns="0" bIns="0" rtlCol="0" anchor="ctr"/>
          <a:lstStyle/>
          <a:p>
            <a:pPr marL="0" indent="0" algn="r">
              <a:buNone/>
            </a:pPr>
            <a:r>
              <a:rPr lang="en-US" sz="820" b="1" dirty="0">
                <a:solidFill>
                  <a:srgbClr val="B9C7D3"/>
                </a:solidFill>
              </a:rPr>
              <a:t>μεταβολή</a:t>
            </a:r>
            <a:endParaRPr lang="en-US" sz="820" dirty="0"/>
          </a:p>
        </p:txBody>
      </p:sp>
      <p:sp>
        <p:nvSpPr>
          <p:cNvPr id="40" name="Shape 38"/>
          <p:cNvSpPr/>
          <p:nvPr/>
        </p:nvSpPr>
        <p:spPr>
          <a:xfrm>
            <a:off x="4343400" y="5102352"/>
            <a:ext cx="3520440" cy="1078992"/>
          </a:xfrm>
          <a:prstGeom prst="roundRect">
            <a:avLst>
              <a:gd name="adj" fmla="val 6780"/>
            </a:avLst>
          </a:prstGeom>
          <a:solidFill>
            <a:srgbClr val="F1F5F9"/>
          </a:solidFill>
          <a:ln w="13970">
            <a:solidFill>
              <a:srgbClr val="B9C7D3"/>
            </a:solidFill>
            <a:prstDash val="solid"/>
          </a:ln>
        </p:spPr>
      </p:sp>
      <p:sp>
        <p:nvSpPr>
          <p:cNvPr id="41" name="Text 39"/>
          <p:cNvSpPr/>
          <p:nvPr/>
        </p:nvSpPr>
        <p:spPr>
          <a:xfrm>
            <a:off x="4489704" y="5230368"/>
            <a:ext cx="3227832" cy="228600"/>
          </a:xfrm>
          <a:prstGeom prst="rect">
            <a:avLst/>
          </a:prstGeom>
          <a:noFill/>
        </p:spPr>
        <p:txBody>
          <a:bodyPr wrap="square" lIns="0" tIns="0" rIns="0" bIns="0" rtlCol="0" anchor="ctr"/>
          <a:lstStyle/>
          <a:p>
            <a:pPr marL="0" indent="0">
              <a:buNone/>
            </a:pPr>
            <a:r>
              <a:rPr lang="en-US" sz="1400" b="1" dirty="0">
                <a:solidFill>
                  <a:srgbClr val="14213D"/>
                </a:solidFill>
              </a:rPr>
              <a:t>Moving Averages</a:t>
            </a:r>
            <a:endParaRPr lang="en-US" sz="1400" dirty="0"/>
          </a:p>
        </p:txBody>
      </p:sp>
      <p:sp>
        <p:nvSpPr>
          <p:cNvPr id="42" name="Text 40"/>
          <p:cNvSpPr/>
          <p:nvPr/>
        </p:nvSpPr>
        <p:spPr>
          <a:xfrm>
            <a:off x="4489704" y="5513832"/>
            <a:ext cx="3227832" cy="438912"/>
          </a:xfrm>
          <a:prstGeom prst="rect">
            <a:avLst/>
          </a:prstGeom>
          <a:noFill/>
        </p:spPr>
        <p:txBody>
          <a:bodyPr wrap="square" lIns="254" tIns="254" rIns="254" bIns="254" rtlCol="0" anchor="ctr">
            <a:normAutofit/>
          </a:bodyPr>
          <a:lstStyle/>
          <a:p>
            <a:pPr marL="0" indent="0">
              <a:buNone/>
            </a:pPr>
            <a:r>
              <a:rPr lang="en-US" sz="1020" dirty="0">
                <a:solidFill>
                  <a:srgbClr val="14213D"/>
                </a:solidFill>
              </a:rPr>
              <a:t>MAₙ,ₜ = μέσος όρος των τελευταίων n τιμών</a:t>
            </a:r>
            <a:endParaRPr lang="en-US" sz="1020" dirty="0"/>
          </a:p>
          <a:p>
            <a:pPr marL="0" indent="0">
              <a:buNone/>
            </a:pPr>
            <a:r>
              <a:rPr lang="en-US" sz="1020" dirty="0">
                <a:solidFill>
                  <a:srgbClr val="14213D"/>
                </a:solidFill>
              </a:rPr>
              <a:t>Παράδειγμα: MA₁₀, MA₂₀, MA₅₀</a:t>
            </a:r>
            <a:endParaRPr lang="en-US" sz="1020" dirty="0"/>
          </a:p>
        </p:txBody>
      </p:sp>
      <p:sp>
        <p:nvSpPr>
          <p:cNvPr id="43" name="Text 41"/>
          <p:cNvSpPr/>
          <p:nvPr/>
        </p:nvSpPr>
        <p:spPr>
          <a:xfrm>
            <a:off x="4489704" y="5980176"/>
            <a:ext cx="3227832" cy="146304"/>
          </a:xfrm>
          <a:prstGeom prst="rect">
            <a:avLst/>
          </a:prstGeom>
          <a:noFill/>
        </p:spPr>
        <p:txBody>
          <a:bodyPr wrap="square" lIns="0" tIns="0" rIns="0" bIns="0" rtlCol="0" anchor="ctr"/>
          <a:lstStyle/>
          <a:p>
            <a:pPr marL="0" indent="0" algn="r">
              <a:buNone/>
            </a:pPr>
            <a:r>
              <a:rPr lang="en-US" sz="820" b="1" dirty="0">
                <a:solidFill>
                  <a:srgbClr val="B9C7D3"/>
                </a:solidFill>
              </a:rPr>
              <a:t>τάση</a:t>
            </a:r>
            <a:endParaRPr lang="en-US" sz="820" dirty="0"/>
          </a:p>
        </p:txBody>
      </p:sp>
      <p:sp>
        <p:nvSpPr>
          <p:cNvPr id="44" name="Shape 42"/>
          <p:cNvSpPr/>
          <p:nvPr/>
        </p:nvSpPr>
        <p:spPr>
          <a:xfrm>
            <a:off x="8092440" y="5102352"/>
            <a:ext cx="3520440" cy="1078992"/>
          </a:xfrm>
          <a:prstGeom prst="roundRect">
            <a:avLst>
              <a:gd name="adj" fmla="val 6780"/>
            </a:avLst>
          </a:prstGeom>
          <a:solidFill>
            <a:srgbClr val="F1F5F9"/>
          </a:solidFill>
          <a:ln w="13970">
            <a:solidFill>
              <a:srgbClr val="B9C7D3"/>
            </a:solidFill>
            <a:prstDash val="solid"/>
          </a:ln>
        </p:spPr>
      </p:sp>
      <p:sp>
        <p:nvSpPr>
          <p:cNvPr id="45" name="Text 43"/>
          <p:cNvSpPr/>
          <p:nvPr/>
        </p:nvSpPr>
        <p:spPr>
          <a:xfrm>
            <a:off x="8238744" y="5230368"/>
            <a:ext cx="3227832" cy="228600"/>
          </a:xfrm>
          <a:prstGeom prst="rect">
            <a:avLst/>
          </a:prstGeom>
          <a:noFill/>
        </p:spPr>
        <p:txBody>
          <a:bodyPr wrap="square" lIns="0" tIns="0" rIns="0" bIns="0" rtlCol="0" anchor="ctr"/>
          <a:lstStyle/>
          <a:p>
            <a:pPr marL="0" indent="0">
              <a:buNone/>
            </a:pPr>
            <a:r>
              <a:rPr lang="en-US" sz="1400" b="1" dirty="0">
                <a:solidFill>
                  <a:srgbClr val="14213D"/>
                </a:solidFill>
              </a:rPr>
              <a:t>Relative Position</a:t>
            </a:r>
            <a:endParaRPr lang="en-US" sz="1400" dirty="0"/>
          </a:p>
        </p:txBody>
      </p:sp>
      <p:sp>
        <p:nvSpPr>
          <p:cNvPr id="46" name="Text 44"/>
          <p:cNvSpPr/>
          <p:nvPr/>
        </p:nvSpPr>
        <p:spPr>
          <a:xfrm>
            <a:off x="8238744" y="5513832"/>
            <a:ext cx="3227832" cy="438912"/>
          </a:xfrm>
          <a:prstGeom prst="rect">
            <a:avLst/>
          </a:prstGeom>
          <a:noFill/>
        </p:spPr>
        <p:txBody>
          <a:bodyPr wrap="square" lIns="254" tIns="254" rIns="254" bIns="254" rtlCol="0" anchor="ctr">
            <a:normAutofit/>
          </a:bodyPr>
          <a:lstStyle/>
          <a:p>
            <a:pPr marL="0" indent="0">
              <a:buNone/>
            </a:pPr>
            <a:r>
              <a:rPr lang="en-US" sz="1020" dirty="0">
                <a:solidFill>
                  <a:srgbClr val="14213D"/>
                </a:solidFill>
              </a:rPr>
              <a:t>Close / MA − 1</a:t>
            </a:r>
            <a:endParaRPr lang="en-US" sz="1020" dirty="0"/>
          </a:p>
          <a:p>
            <a:pPr marL="0" indent="0">
              <a:buNone/>
            </a:pPr>
            <a:r>
              <a:rPr lang="en-US" sz="1020" dirty="0">
                <a:solidFill>
                  <a:srgbClr val="14213D"/>
                </a:solidFill>
              </a:rPr>
              <a:t>Μετρά πόσο απέχει η τιμή από τον μέσο όρο</a:t>
            </a:r>
            <a:endParaRPr lang="en-US" sz="1020" dirty="0"/>
          </a:p>
        </p:txBody>
      </p:sp>
      <p:sp>
        <p:nvSpPr>
          <p:cNvPr id="47" name="Text 45"/>
          <p:cNvSpPr/>
          <p:nvPr/>
        </p:nvSpPr>
        <p:spPr>
          <a:xfrm>
            <a:off x="8238744" y="5980176"/>
            <a:ext cx="3227832" cy="146304"/>
          </a:xfrm>
          <a:prstGeom prst="rect">
            <a:avLst/>
          </a:prstGeom>
          <a:noFill/>
        </p:spPr>
        <p:txBody>
          <a:bodyPr wrap="square" lIns="0" tIns="0" rIns="0" bIns="0" rtlCol="0" anchor="ctr"/>
          <a:lstStyle/>
          <a:p>
            <a:pPr marL="0" indent="0" algn="r">
              <a:buNone/>
            </a:pPr>
            <a:r>
              <a:rPr lang="en-US" sz="820" b="1" dirty="0">
                <a:solidFill>
                  <a:srgbClr val="B9C7D3"/>
                </a:solidFill>
              </a:rPr>
              <a:t>θέση</a:t>
            </a:r>
            <a:endParaRPr lang="en-US" sz="820" dirty="0"/>
          </a:p>
        </p:txBody>
      </p:sp>
      <p:sp>
        <p:nvSpPr>
          <p:cNvPr id="48" name="Shape 46"/>
          <p:cNvSpPr/>
          <p:nvPr/>
        </p:nvSpPr>
        <p:spPr>
          <a:xfrm>
            <a:off x="0" y="6492240"/>
            <a:ext cx="12191695" cy="365760"/>
          </a:xfrm>
          <a:prstGeom prst="rect">
            <a:avLst/>
          </a:prstGeom>
          <a:solidFill>
            <a:srgbClr val="EFF4F8"/>
          </a:solidFill>
          <a:ln w="12700">
            <a:solidFill>
              <a:srgbClr val="EFF4F8"/>
            </a:solidFill>
            <a:prstDash val="solid"/>
          </a:ln>
        </p:spPr>
      </p:sp>
      <p:sp>
        <p:nvSpPr>
          <p:cNvPr id="49" name="Text 47"/>
          <p:cNvSpPr/>
          <p:nvPr/>
        </p:nvSpPr>
        <p:spPr>
          <a:xfrm>
            <a:off x="594360" y="6583680"/>
            <a:ext cx="9326880" cy="164592"/>
          </a:xfrm>
          <a:prstGeom prst="rect">
            <a:avLst/>
          </a:prstGeom>
          <a:noFill/>
        </p:spPr>
        <p:txBody>
          <a:bodyPr wrap="square" lIns="0" tIns="0" rIns="0" bIns="0" rtlCol="0" anchor="ctr"/>
          <a:lstStyle/>
          <a:p>
            <a:pPr marL="0" indent="0">
              <a:buNone/>
            </a:pPr>
            <a:r>
              <a:rPr lang="en-US" sz="1050" b="1" dirty="0">
                <a:solidFill>
                  <a:srgbClr val="14213D"/>
                </a:solidFill>
              </a:rPr>
              <a:t>Συμπέρασμα: τα inputs δεν είναι μόνο τιμές· είναι τεχνική περιγραφή της πρόσφατης συμπεριφοράς της αγοράς.</a:t>
            </a:r>
            <a:endParaRPr lang="en-US" sz="1050" dirty="0"/>
          </a:p>
        </p:txBody>
      </p:sp>
      <p:sp>
        <p:nvSpPr>
          <p:cNvPr id="50" name="Text 48"/>
          <p:cNvSpPr/>
          <p:nvPr/>
        </p:nvSpPr>
        <p:spPr>
          <a:xfrm>
            <a:off x="10195560" y="6583680"/>
            <a:ext cx="1463040" cy="164592"/>
          </a:xfrm>
          <a:prstGeom prst="rect">
            <a:avLst/>
          </a:prstGeom>
          <a:noFill/>
        </p:spPr>
        <p:txBody>
          <a:bodyPr wrap="square" lIns="0" tIns="0" rIns="0" bIns="0" rtlCol="0" anchor="ctr"/>
          <a:lstStyle/>
          <a:p>
            <a:pPr marL="0" indent="0" algn="r">
              <a:buNone/>
            </a:pPr>
            <a:r>
              <a:rPr lang="en-US" sz="850" dirty="0">
                <a:solidFill>
                  <a:srgbClr val="708090"/>
                </a:solidFill>
              </a:rPr>
              <a:t>Stock / ETF Forecasting Project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4. Από ημερήσια χαρακτηριστικά σε χρονοσειριακό input</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Το μοντέλο βλέπει ένα παράθυρο L ημερών, όχι μία μεμονωμένη ημέρα</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868680" y="1920240"/>
            <a:ext cx="822960" cy="502920"/>
          </a:xfrm>
          <a:prstGeom prst="rect">
            <a:avLst/>
          </a:prstGeom>
          <a:solidFill>
            <a:srgbClr val="DDE7F0"/>
          </a:solidFill>
          <a:ln w="12700">
            <a:solidFill>
              <a:srgbClr val="DDE7F0"/>
            </a:solidFill>
          </a:ln>
        </p:spPr>
        <p:txBody>
          <a:bodyPr wrap="square" lIns="1016" tIns="1016" rIns="1016" bIns="1016" rtlCol="0" anchor="ctr">
            <a:normAutofit/>
          </a:bodyPr>
          <a:lstStyle/>
          <a:p>
            <a:pPr marL="0" indent="0" algn="ctr">
              <a:buNone/>
            </a:pPr>
            <a:r>
              <a:rPr lang="en-US" sz="1600" b="1" dirty="0">
                <a:solidFill>
                  <a:srgbClr val="112033"/>
                </a:solidFill>
              </a:rPr>
              <a:t>t-6</a:t>
            </a:r>
            <a:endParaRPr lang="en-US" sz="1600" dirty="0"/>
          </a:p>
        </p:txBody>
      </p:sp>
      <p:sp>
        <p:nvSpPr>
          <p:cNvPr id="6" name="Text 4"/>
          <p:cNvSpPr/>
          <p:nvPr/>
        </p:nvSpPr>
        <p:spPr>
          <a:xfrm>
            <a:off x="2011680" y="1920240"/>
            <a:ext cx="822960" cy="502920"/>
          </a:xfrm>
          <a:prstGeom prst="rect">
            <a:avLst/>
          </a:prstGeom>
          <a:solidFill>
            <a:srgbClr val="DDE7F0"/>
          </a:solidFill>
          <a:ln w="12700">
            <a:solidFill>
              <a:srgbClr val="DDE7F0"/>
            </a:solidFill>
          </a:ln>
        </p:spPr>
        <p:txBody>
          <a:bodyPr wrap="square" lIns="1016" tIns="1016" rIns="1016" bIns="1016" rtlCol="0" anchor="ctr">
            <a:normAutofit/>
          </a:bodyPr>
          <a:lstStyle/>
          <a:p>
            <a:pPr marL="0" indent="0" algn="ctr">
              <a:buNone/>
            </a:pPr>
            <a:r>
              <a:rPr lang="en-US" sz="1600" b="1" dirty="0">
                <a:solidFill>
                  <a:srgbClr val="112033"/>
                </a:solidFill>
              </a:rPr>
              <a:t>t-5</a:t>
            </a:r>
            <a:endParaRPr lang="en-US" sz="1600" dirty="0"/>
          </a:p>
        </p:txBody>
      </p:sp>
      <p:sp>
        <p:nvSpPr>
          <p:cNvPr id="7" name="Text 5"/>
          <p:cNvSpPr/>
          <p:nvPr/>
        </p:nvSpPr>
        <p:spPr>
          <a:xfrm>
            <a:off x="3154680" y="1920240"/>
            <a:ext cx="822960" cy="502920"/>
          </a:xfrm>
          <a:prstGeom prst="rect">
            <a:avLst/>
          </a:prstGeom>
          <a:solidFill>
            <a:srgbClr val="DDE7F0"/>
          </a:solidFill>
          <a:ln w="12700">
            <a:solidFill>
              <a:srgbClr val="DDE7F0"/>
            </a:solidFill>
          </a:ln>
        </p:spPr>
        <p:txBody>
          <a:bodyPr wrap="square" lIns="1016" tIns="1016" rIns="1016" bIns="1016" rtlCol="0" anchor="ctr">
            <a:normAutofit/>
          </a:bodyPr>
          <a:lstStyle/>
          <a:p>
            <a:pPr marL="0" indent="0" algn="ctr">
              <a:buNone/>
            </a:pPr>
            <a:r>
              <a:rPr lang="en-US" sz="1600" b="1" dirty="0">
                <a:solidFill>
                  <a:srgbClr val="112033"/>
                </a:solidFill>
              </a:rPr>
              <a:t>t-4</a:t>
            </a:r>
            <a:endParaRPr lang="en-US" sz="1600" dirty="0"/>
          </a:p>
        </p:txBody>
      </p:sp>
      <p:sp>
        <p:nvSpPr>
          <p:cNvPr id="8" name="Text 6"/>
          <p:cNvSpPr/>
          <p:nvPr/>
        </p:nvSpPr>
        <p:spPr>
          <a:xfrm>
            <a:off x="4297680" y="1920240"/>
            <a:ext cx="822960" cy="502920"/>
          </a:xfrm>
          <a:prstGeom prst="rect">
            <a:avLst/>
          </a:prstGeom>
          <a:solidFill>
            <a:srgbClr val="DDE7F0"/>
          </a:solidFill>
          <a:ln w="12700">
            <a:solidFill>
              <a:srgbClr val="DDE7F0"/>
            </a:solidFill>
          </a:ln>
        </p:spPr>
        <p:txBody>
          <a:bodyPr wrap="square" lIns="1016" tIns="1016" rIns="1016" bIns="1016" rtlCol="0" anchor="ctr">
            <a:normAutofit/>
          </a:bodyPr>
          <a:lstStyle/>
          <a:p>
            <a:pPr marL="0" indent="0" algn="ctr">
              <a:buNone/>
            </a:pPr>
            <a:r>
              <a:rPr lang="en-US" sz="1600" b="1" dirty="0">
                <a:solidFill>
                  <a:srgbClr val="112033"/>
                </a:solidFill>
              </a:rPr>
              <a:t>t-3</a:t>
            </a:r>
            <a:endParaRPr lang="en-US" sz="1600" dirty="0"/>
          </a:p>
        </p:txBody>
      </p:sp>
      <p:sp>
        <p:nvSpPr>
          <p:cNvPr id="9" name="Text 7"/>
          <p:cNvSpPr/>
          <p:nvPr/>
        </p:nvSpPr>
        <p:spPr>
          <a:xfrm>
            <a:off x="5440680" y="1920240"/>
            <a:ext cx="822960" cy="502920"/>
          </a:xfrm>
          <a:prstGeom prst="rect">
            <a:avLst/>
          </a:prstGeom>
          <a:solidFill>
            <a:srgbClr val="DDE7F0"/>
          </a:solidFill>
          <a:ln w="12700">
            <a:solidFill>
              <a:srgbClr val="DDE7F0"/>
            </a:solidFill>
          </a:ln>
        </p:spPr>
        <p:txBody>
          <a:bodyPr wrap="square" lIns="1016" tIns="1016" rIns="1016" bIns="1016" rtlCol="0" anchor="ctr">
            <a:normAutofit/>
          </a:bodyPr>
          <a:lstStyle/>
          <a:p>
            <a:pPr marL="0" indent="0" algn="ctr">
              <a:buNone/>
            </a:pPr>
            <a:r>
              <a:rPr lang="en-US" sz="1600" b="1" dirty="0">
                <a:solidFill>
                  <a:srgbClr val="112033"/>
                </a:solidFill>
              </a:rPr>
              <a:t>t-2</a:t>
            </a:r>
            <a:endParaRPr lang="en-US" sz="1600" dirty="0"/>
          </a:p>
        </p:txBody>
      </p:sp>
      <p:sp>
        <p:nvSpPr>
          <p:cNvPr id="10" name="Text 8"/>
          <p:cNvSpPr/>
          <p:nvPr/>
        </p:nvSpPr>
        <p:spPr>
          <a:xfrm>
            <a:off x="6583680" y="1920240"/>
            <a:ext cx="822960" cy="502920"/>
          </a:xfrm>
          <a:prstGeom prst="rect">
            <a:avLst/>
          </a:prstGeom>
          <a:solidFill>
            <a:srgbClr val="DDE7F0"/>
          </a:solidFill>
          <a:ln w="12700">
            <a:solidFill>
              <a:srgbClr val="DDE7F0"/>
            </a:solidFill>
          </a:ln>
        </p:spPr>
        <p:txBody>
          <a:bodyPr wrap="square" lIns="1016" tIns="1016" rIns="1016" bIns="1016" rtlCol="0" anchor="ctr">
            <a:normAutofit/>
          </a:bodyPr>
          <a:lstStyle/>
          <a:p>
            <a:pPr marL="0" indent="0" algn="ctr">
              <a:buNone/>
            </a:pPr>
            <a:r>
              <a:rPr lang="en-US" sz="1600" b="1" dirty="0">
                <a:solidFill>
                  <a:srgbClr val="112033"/>
                </a:solidFill>
              </a:rPr>
              <a:t>t-1</a:t>
            </a:r>
            <a:endParaRPr lang="en-US" sz="1600" dirty="0"/>
          </a:p>
        </p:txBody>
      </p:sp>
      <p:sp>
        <p:nvSpPr>
          <p:cNvPr id="11" name="Text 9"/>
          <p:cNvSpPr/>
          <p:nvPr/>
        </p:nvSpPr>
        <p:spPr>
          <a:xfrm>
            <a:off x="7726680" y="1920240"/>
            <a:ext cx="822960" cy="502920"/>
          </a:xfrm>
          <a:prstGeom prst="rect">
            <a:avLst/>
          </a:prstGeom>
          <a:solidFill>
            <a:srgbClr val="008C95"/>
          </a:solidFill>
          <a:ln w="12700">
            <a:solidFill>
              <a:srgbClr val="008C95"/>
            </a:solidFill>
          </a:ln>
        </p:spPr>
        <p:txBody>
          <a:bodyPr wrap="square" lIns="1016" tIns="1016" rIns="1016" bIns="1016" rtlCol="0" anchor="ctr">
            <a:normAutofit/>
          </a:bodyPr>
          <a:lstStyle/>
          <a:p>
            <a:pPr marL="0" indent="0" algn="ctr">
              <a:buNone/>
            </a:pPr>
            <a:r>
              <a:rPr lang="en-US" sz="1600" b="1" dirty="0">
                <a:solidFill>
                  <a:srgbClr val="FFFFFF"/>
                </a:solidFill>
              </a:rPr>
              <a:t>t</a:t>
            </a:r>
            <a:endParaRPr lang="en-US" sz="1600" dirty="0"/>
          </a:p>
        </p:txBody>
      </p:sp>
      <p:sp>
        <p:nvSpPr>
          <p:cNvPr id="12" name="Text 10"/>
          <p:cNvSpPr/>
          <p:nvPr/>
        </p:nvSpPr>
        <p:spPr>
          <a:xfrm>
            <a:off x="9098280" y="1664208"/>
            <a:ext cx="2286000" cy="1051560"/>
          </a:xfrm>
          <a:prstGeom prst="rect">
            <a:avLst/>
          </a:prstGeom>
          <a:solidFill>
            <a:srgbClr val="ECFDF5"/>
          </a:solidFill>
          <a:ln w="12700">
            <a:solidFill>
              <a:srgbClr val="A7F3D0"/>
            </a:solidFill>
          </a:ln>
        </p:spPr>
        <p:txBody>
          <a:bodyPr wrap="square" lIns="1016" tIns="1016" rIns="1016" bIns="1016" rtlCol="0" anchor="ctr">
            <a:normAutofit/>
          </a:bodyPr>
          <a:lstStyle/>
          <a:p>
            <a:pPr marL="0" indent="0" algn="ctr">
              <a:buNone/>
            </a:pPr>
            <a:r>
              <a:rPr lang="en-US" sz="1500" b="1" dirty="0">
                <a:solidFill>
                  <a:srgbClr val="112033"/>
                </a:solidFill>
              </a:rPr>
              <a:t>Παράθυρο εισόδου L = 60 ημερών</a:t>
            </a:r>
            <a:endParaRPr lang="en-US" sz="1500" dirty="0"/>
          </a:p>
        </p:txBody>
      </p:sp>
      <p:sp>
        <p:nvSpPr>
          <p:cNvPr id="13" name="Text 11"/>
          <p:cNvSpPr/>
          <p:nvPr/>
        </p:nvSpPr>
        <p:spPr>
          <a:xfrm>
            <a:off x="960120" y="2670048"/>
            <a:ext cx="6309360" cy="329184"/>
          </a:xfrm>
          <a:prstGeom prst="rect">
            <a:avLst/>
          </a:prstGeom>
          <a:noFill/>
        </p:spPr>
        <p:txBody>
          <a:bodyPr wrap="square" lIns="0" tIns="0" rIns="0" bIns="0" rtlCol="0" anchor="ctr"/>
          <a:lstStyle/>
          <a:p>
            <a:pPr marL="0" indent="0">
              <a:buNone/>
            </a:pPr>
            <a:r>
              <a:rPr lang="en-US" sz="1400" dirty="0">
                <a:solidFill>
                  <a:srgbClr val="52616B"/>
                </a:solidFill>
              </a:rPr>
              <a:t>κάθε ημέρα → διάνυσμα χαρακτηριστικών xₜ</a:t>
            </a:r>
            <a:endParaRPr lang="en-US" sz="1400" dirty="0"/>
          </a:p>
        </p:txBody>
      </p:sp>
      <p:sp>
        <p:nvSpPr>
          <p:cNvPr id="14" name="Text 12"/>
          <p:cNvSpPr/>
          <p:nvPr/>
        </p:nvSpPr>
        <p:spPr>
          <a:xfrm>
            <a:off x="3749040" y="3246120"/>
            <a:ext cx="457200" cy="320040"/>
          </a:xfrm>
          <a:prstGeom prst="rect">
            <a:avLst/>
          </a:prstGeom>
          <a:noFill/>
        </p:spPr>
        <p:txBody>
          <a:bodyPr wrap="square" lIns="0" tIns="0" rIns="0" bIns="0" rtlCol="0" anchor="ctr"/>
          <a:lstStyle/>
          <a:p>
            <a:pPr marL="0" indent="0" algn="ctr">
              <a:buNone/>
            </a:pPr>
            <a:r>
              <a:rPr lang="en-US" sz="2800" b="1" dirty="0">
                <a:solidFill>
                  <a:srgbClr val="008C95"/>
                </a:solidFill>
              </a:rPr>
              <a:t>→</a:t>
            </a:r>
            <a:endParaRPr lang="en-US" sz="2800" dirty="0"/>
          </a:p>
        </p:txBody>
      </p:sp>
      <p:sp>
        <p:nvSpPr>
          <p:cNvPr id="15" name="Text 13"/>
          <p:cNvSpPr/>
          <p:nvPr/>
        </p:nvSpPr>
        <p:spPr>
          <a:xfrm>
            <a:off x="2057400" y="3913632"/>
            <a:ext cx="8092440" cy="640080"/>
          </a:xfrm>
          <a:prstGeom prst="rect">
            <a:avLst/>
          </a:prstGeom>
          <a:solidFill>
            <a:srgbClr val="FFFFFF"/>
          </a:solidFill>
          <a:ln w="19050">
            <a:solidFill>
              <a:srgbClr val="008C95"/>
            </a:solidFill>
          </a:ln>
        </p:spPr>
        <p:txBody>
          <a:bodyPr wrap="square" lIns="1016" tIns="1016" rIns="1016" bIns="1016" rtlCol="0" anchor="ctr">
            <a:normAutofit/>
          </a:bodyPr>
          <a:lstStyle/>
          <a:p>
            <a:pPr marL="0" indent="0" algn="ctr">
              <a:buNone/>
            </a:pPr>
            <a:r>
              <a:rPr lang="en-US" sz="1800" b="1" dirty="0">
                <a:solidFill>
                  <a:srgbClr val="112033"/>
                </a:solidFill>
              </a:rPr>
              <a:t>Xₜ = [xₜ₋ᴸ₊₁, xₜ₋ᴸ₊₂, …, xₜ]  ∈ ℝᴸˣᵈ</a:t>
            </a:r>
            <a:endParaRPr lang="en-US" sz="1800" dirty="0"/>
          </a:p>
        </p:txBody>
      </p:sp>
      <p:sp>
        <p:nvSpPr>
          <p:cNvPr id="16" name="Text 14"/>
          <p:cNvSpPr/>
          <p:nvPr/>
        </p:nvSpPr>
        <p:spPr>
          <a:xfrm>
            <a:off x="1143000" y="5102352"/>
            <a:ext cx="9966960" cy="868680"/>
          </a:xfrm>
          <a:prstGeom prst="rect">
            <a:avLst/>
          </a:prstGeom>
          <a:noFill/>
        </p:spPr>
        <p:txBody>
          <a:bodyPr wrap="square" lIns="635" tIns="635" rIns="635" bIns="635" rtlCol="0" anchor="t">
            <a:normAutofit/>
          </a:bodyPr>
          <a:lstStyle/>
          <a:p>
            <a:pPr marL="0" indent="0">
              <a:buNone/>
            </a:pPr>
            <a:r>
              <a:rPr lang="en-US" sz="1550" dirty="0">
                <a:solidFill>
                  <a:srgbClr val="112033"/>
                </a:solidFill>
              </a:rPr>
              <a:t>• Το L είναι το μήκος μνήμης του μοντέλου.
</a:t>
            </a:r>
            <a:r>
              <a:rPr lang="en-US" sz="1550" dirty="0">
                <a:solidFill>
                  <a:srgbClr val="112033"/>
                </a:solidFill>
              </a:rPr>
              <a:t>• Στο project χρησιμοποιείται τυπικά L = 60 trading days.
</a:t>
            </a:r>
            <a:r>
              <a:rPr lang="en-US" sz="1550" dirty="0">
                <a:solidFill>
                  <a:srgbClr val="112033"/>
                </a:solidFill>
              </a:rPr>
              <a:t>• Άρα το input είναι πίνακας: ημέρες × χαρακτηριστικά.</a:t>
            </a:r>
            <a:endParaRPr lang="en-US" sz="1550" dirty="0"/>
          </a:p>
        </p:txBody>
      </p:sp>
      <p:sp>
        <p:nvSpPr>
          <p:cNvPr id="17" name="Text 15"/>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8" name="Text 16"/>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5. Πώς φτιάχνουμε τα targets</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Ο στόχος δεν είναι η τιμή, αλλά η μελλοντική λογαριθμική απόδοση για κάθε ημέρα</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777240" y="1508760"/>
            <a:ext cx="3840480" cy="731520"/>
          </a:xfrm>
          <a:prstGeom prst="rect">
            <a:avLst/>
          </a:prstGeom>
          <a:solidFill>
            <a:srgbClr val="FFFFFF"/>
          </a:solidFill>
          <a:ln w="19050">
            <a:solidFill>
              <a:srgbClr val="008C95"/>
            </a:solidFill>
          </a:ln>
        </p:spPr>
        <p:txBody>
          <a:bodyPr wrap="square" lIns="1016" tIns="1016" rIns="1016" bIns="1016" rtlCol="0" anchor="ctr">
            <a:normAutofit/>
          </a:bodyPr>
          <a:lstStyle/>
          <a:p>
            <a:pPr marL="0" indent="0" algn="ctr">
              <a:buNone/>
            </a:pPr>
            <a:r>
              <a:rPr lang="en-US" sz="1800" b="1" dirty="0">
                <a:solidFill>
                  <a:srgbClr val="112033"/>
                </a:solidFill>
              </a:rPr>
              <a:t>rₜ,ₖ = ln(Pₜ₊ₖ / Pₜ)</a:t>
            </a:r>
            <a:endParaRPr lang="en-US" sz="1800" dirty="0"/>
          </a:p>
        </p:txBody>
      </p:sp>
      <p:sp>
        <p:nvSpPr>
          <p:cNvPr id="6" name="Text 4"/>
          <p:cNvSpPr/>
          <p:nvPr/>
        </p:nvSpPr>
        <p:spPr>
          <a:xfrm>
            <a:off x="4892040" y="1682496"/>
            <a:ext cx="457200" cy="320040"/>
          </a:xfrm>
          <a:prstGeom prst="rect">
            <a:avLst/>
          </a:prstGeom>
          <a:noFill/>
        </p:spPr>
        <p:txBody>
          <a:bodyPr wrap="square" lIns="0" tIns="0" rIns="0" bIns="0" rtlCol="0" anchor="ctr"/>
          <a:lstStyle/>
          <a:p>
            <a:pPr marL="0" indent="0" algn="ctr">
              <a:buNone/>
            </a:pPr>
            <a:r>
              <a:rPr lang="en-US" sz="2800" b="1" dirty="0">
                <a:solidFill>
                  <a:srgbClr val="52616B"/>
                </a:solidFill>
              </a:rPr>
              <a:t>→</a:t>
            </a:r>
            <a:endParaRPr lang="en-US" sz="2800" dirty="0"/>
          </a:p>
        </p:txBody>
      </p:sp>
      <p:sp>
        <p:nvSpPr>
          <p:cNvPr id="7" name="Text 5"/>
          <p:cNvSpPr/>
          <p:nvPr/>
        </p:nvSpPr>
        <p:spPr>
          <a:xfrm>
            <a:off x="5532120" y="1508760"/>
            <a:ext cx="4754880" cy="731520"/>
          </a:xfrm>
          <a:prstGeom prst="rect">
            <a:avLst/>
          </a:prstGeom>
          <a:solidFill>
            <a:srgbClr val="FFFFFF"/>
          </a:solidFill>
          <a:ln w="19050">
            <a:solidFill>
              <a:srgbClr val="6D5DFB"/>
            </a:solidFill>
          </a:ln>
        </p:spPr>
        <p:txBody>
          <a:bodyPr wrap="square" lIns="1016" tIns="1016" rIns="1016" bIns="1016" rtlCol="0" anchor="ctr">
            <a:normAutofit/>
          </a:bodyPr>
          <a:lstStyle/>
          <a:p>
            <a:pPr marL="0" indent="0" algn="ctr">
              <a:buNone/>
            </a:pPr>
            <a:r>
              <a:rPr lang="en-US" sz="1800" b="1" dirty="0">
                <a:solidFill>
                  <a:srgbClr val="112033"/>
                </a:solidFill>
              </a:rPr>
              <a:t>P̂ₜ₊ₖ = Pₜ · exp(r̂ₜ,ₖ)</a:t>
            </a:r>
            <a:endParaRPr lang="en-US" sz="1800" dirty="0"/>
          </a:p>
        </p:txBody>
      </p:sp>
      <p:sp>
        <p:nvSpPr>
          <p:cNvPr id="8" name="Text 6"/>
          <p:cNvSpPr/>
          <p:nvPr/>
        </p:nvSpPr>
        <p:spPr>
          <a:xfrm>
            <a:off x="1828800" y="2788920"/>
            <a:ext cx="8503920" cy="457200"/>
          </a:xfrm>
          <a:prstGeom prst="rect">
            <a:avLst/>
          </a:prstGeom>
          <a:solidFill>
            <a:srgbClr val="FEF3C7"/>
          </a:solidFill>
          <a:ln w="12700">
            <a:solidFill>
              <a:srgbClr val="FDE68A"/>
            </a:solidFill>
          </a:ln>
        </p:spPr>
        <p:txBody>
          <a:bodyPr wrap="square" lIns="1016" tIns="1016" rIns="1016" bIns="1016" rtlCol="0" anchor="ctr">
            <a:normAutofit/>
          </a:bodyPr>
          <a:lstStyle/>
          <a:p>
            <a:pPr marL="0" indent="0" algn="ctr">
              <a:buNone/>
            </a:pPr>
            <a:r>
              <a:rPr lang="en-US" sz="1700" b="1" dirty="0">
                <a:solidFill>
                  <a:srgbClr val="112033"/>
                </a:solidFill>
              </a:rPr>
              <a:t>Για κάθε ημερομηνία t δημιουργούμε H targets</a:t>
            </a:r>
            <a:endParaRPr lang="en-US" sz="1700" dirty="0"/>
          </a:p>
        </p:txBody>
      </p:sp>
      <p:sp>
        <p:nvSpPr>
          <p:cNvPr id="9" name="Text 7"/>
          <p:cNvSpPr/>
          <p:nvPr/>
        </p:nvSpPr>
        <p:spPr>
          <a:xfrm>
            <a:off x="1143000" y="3867912"/>
            <a:ext cx="1536192" cy="621792"/>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280" b="1" dirty="0">
                <a:solidFill>
                  <a:srgbClr val="112033"/>
                </a:solidFill>
              </a:rPr>
              <a:t>Target d0001</a:t>
            </a:r>
            <a:endParaRPr lang="en-US" sz="1280" dirty="0"/>
          </a:p>
        </p:txBody>
      </p:sp>
      <p:sp>
        <p:nvSpPr>
          <p:cNvPr id="10" name="Text 8"/>
          <p:cNvSpPr/>
          <p:nvPr/>
        </p:nvSpPr>
        <p:spPr>
          <a:xfrm>
            <a:off x="2715768" y="4014216"/>
            <a:ext cx="274320" cy="320040"/>
          </a:xfrm>
          <a:prstGeom prst="rect">
            <a:avLst/>
          </a:prstGeom>
          <a:noFill/>
        </p:spPr>
        <p:txBody>
          <a:bodyPr wrap="square" lIns="0" tIns="0" rIns="0" bIns="0" rtlCol="0" anchor="ctr"/>
          <a:lstStyle/>
          <a:p>
            <a:pPr marL="0" indent="0" algn="ctr">
              <a:buNone/>
            </a:pPr>
            <a:r>
              <a:rPr lang="en-US" sz="1800" b="1" dirty="0">
                <a:solidFill>
                  <a:srgbClr val="52616B"/>
                </a:solidFill>
              </a:rPr>
              <a:t>→</a:t>
            </a:r>
            <a:endParaRPr lang="en-US" sz="1800" dirty="0"/>
          </a:p>
        </p:txBody>
      </p:sp>
      <p:sp>
        <p:nvSpPr>
          <p:cNvPr id="11" name="Text 9"/>
          <p:cNvSpPr/>
          <p:nvPr/>
        </p:nvSpPr>
        <p:spPr>
          <a:xfrm>
            <a:off x="3108960" y="3867912"/>
            <a:ext cx="1536192" cy="621792"/>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280" b="1" dirty="0">
                <a:solidFill>
                  <a:srgbClr val="112033"/>
                </a:solidFill>
              </a:rPr>
              <a:t>Target d0002</a:t>
            </a:r>
            <a:endParaRPr lang="en-US" sz="1280" dirty="0"/>
          </a:p>
        </p:txBody>
      </p:sp>
      <p:sp>
        <p:nvSpPr>
          <p:cNvPr id="12" name="Text 10"/>
          <p:cNvSpPr/>
          <p:nvPr/>
        </p:nvSpPr>
        <p:spPr>
          <a:xfrm>
            <a:off x="4681728" y="4014216"/>
            <a:ext cx="274320" cy="320040"/>
          </a:xfrm>
          <a:prstGeom prst="rect">
            <a:avLst/>
          </a:prstGeom>
          <a:noFill/>
        </p:spPr>
        <p:txBody>
          <a:bodyPr wrap="square" lIns="0" tIns="0" rIns="0" bIns="0" rtlCol="0" anchor="ctr"/>
          <a:lstStyle/>
          <a:p>
            <a:pPr marL="0" indent="0" algn="ctr">
              <a:buNone/>
            </a:pPr>
            <a:r>
              <a:rPr lang="en-US" sz="1800" b="1" dirty="0">
                <a:solidFill>
                  <a:srgbClr val="52616B"/>
                </a:solidFill>
              </a:rPr>
              <a:t>→</a:t>
            </a:r>
            <a:endParaRPr lang="en-US" sz="1800" dirty="0"/>
          </a:p>
        </p:txBody>
      </p:sp>
      <p:sp>
        <p:nvSpPr>
          <p:cNvPr id="13" name="Text 11"/>
          <p:cNvSpPr/>
          <p:nvPr/>
        </p:nvSpPr>
        <p:spPr>
          <a:xfrm>
            <a:off x="5074920" y="3867912"/>
            <a:ext cx="1536192" cy="621792"/>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280" b="1" dirty="0">
                <a:solidFill>
                  <a:srgbClr val="112033"/>
                </a:solidFill>
              </a:rPr>
              <a:t>Target d0003</a:t>
            </a:r>
            <a:endParaRPr lang="en-US" sz="1280" dirty="0"/>
          </a:p>
        </p:txBody>
      </p:sp>
      <p:sp>
        <p:nvSpPr>
          <p:cNvPr id="14" name="Text 12"/>
          <p:cNvSpPr/>
          <p:nvPr/>
        </p:nvSpPr>
        <p:spPr>
          <a:xfrm>
            <a:off x="6647688" y="4014216"/>
            <a:ext cx="274320" cy="320040"/>
          </a:xfrm>
          <a:prstGeom prst="rect">
            <a:avLst/>
          </a:prstGeom>
          <a:noFill/>
        </p:spPr>
        <p:txBody>
          <a:bodyPr wrap="square" lIns="0" tIns="0" rIns="0" bIns="0" rtlCol="0" anchor="ctr"/>
          <a:lstStyle/>
          <a:p>
            <a:pPr marL="0" indent="0" algn="ctr">
              <a:buNone/>
            </a:pPr>
            <a:r>
              <a:rPr lang="en-US" sz="1800" b="1" dirty="0">
                <a:solidFill>
                  <a:srgbClr val="52616B"/>
                </a:solidFill>
              </a:rPr>
              <a:t>→</a:t>
            </a:r>
            <a:endParaRPr lang="en-US" sz="1800" dirty="0"/>
          </a:p>
        </p:txBody>
      </p:sp>
      <p:sp>
        <p:nvSpPr>
          <p:cNvPr id="15" name="Text 13"/>
          <p:cNvSpPr/>
          <p:nvPr/>
        </p:nvSpPr>
        <p:spPr>
          <a:xfrm>
            <a:off x="7040880" y="3867912"/>
            <a:ext cx="1536192" cy="621792"/>
          </a:xfrm>
          <a:prstGeom prst="rect">
            <a:avLst/>
          </a:prstGeom>
          <a:solidFill>
            <a:srgbClr val="FFFFFF"/>
          </a:solidFill>
          <a:ln w="12700">
            <a:solidFill>
              <a:srgbClr val="CBD5E1"/>
            </a:solidFill>
          </a:ln>
        </p:spPr>
        <p:txBody>
          <a:bodyPr wrap="square" lIns="1016" tIns="1016" rIns="1016" bIns="1016" rtlCol="0" anchor="ctr">
            <a:normAutofit/>
          </a:bodyPr>
          <a:lstStyle/>
          <a:p>
            <a:pPr marL="0" indent="0" algn="ctr">
              <a:buNone/>
            </a:pPr>
            <a:r>
              <a:rPr lang="en-US" sz="1280" dirty="0">
                <a:solidFill>
                  <a:srgbClr val="52616B"/>
                </a:solidFill>
              </a:rPr>
              <a:t>…</a:t>
            </a:r>
            <a:endParaRPr lang="en-US" sz="1280" dirty="0"/>
          </a:p>
        </p:txBody>
      </p:sp>
      <p:sp>
        <p:nvSpPr>
          <p:cNvPr id="16" name="Text 14"/>
          <p:cNvSpPr/>
          <p:nvPr/>
        </p:nvSpPr>
        <p:spPr>
          <a:xfrm>
            <a:off x="8613648" y="4014216"/>
            <a:ext cx="274320" cy="320040"/>
          </a:xfrm>
          <a:prstGeom prst="rect">
            <a:avLst/>
          </a:prstGeom>
          <a:noFill/>
        </p:spPr>
        <p:txBody>
          <a:bodyPr wrap="square" lIns="0" tIns="0" rIns="0" bIns="0" rtlCol="0" anchor="ctr"/>
          <a:lstStyle/>
          <a:p>
            <a:pPr marL="0" indent="0" algn="ctr">
              <a:buNone/>
            </a:pPr>
            <a:r>
              <a:rPr lang="en-US" sz="1800" b="1" dirty="0">
                <a:solidFill>
                  <a:srgbClr val="52616B"/>
                </a:solidFill>
              </a:rPr>
              <a:t>→</a:t>
            </a:r>
            <a:endParaRPr lang="en-US" sz="1800" dirty="0"/>
          </a:p>
        </p:txBody>
      </p:sp>
      <p:sp>
        <p:nvSpPr>
          <p:cNvPr id="17" name="Text 15"/>
          <p:cNvSpPr/>
          <p:nvPr/>
        </p:nvSpPr>
        <p:spPr>
          <a:xfrm>
            <a:off x="9006840" y="3867912"/>
            <a:ext cx="1536192" cy="621792"/>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280" b="1" dirty="0">
                <a:solidFill>
                  <a:srgbClr val="112033"/>
                </a:solidFill>
              </a:rPr>
              <a:t>Target d1260</a:t>
            </a:r>
            <a:endParaRPr lang="en-US" sz="1280" dirty="0"/>
          </a:p>
        </p:txBody>
      </p:sp>
      <p:sp>
        <p:nvSpPr>
          <p:cNvPr id="18" name="Text 16"/>
          <p:cNvSpPr/>
          <p:nvPr/>
        </p:nvSpPr>
        <p:spPr>
          <a:xfrm>
            <a:off x="1280160" y="5074920"/>
            <a:ext cx="9784080" cy="777240"/>
          </a:xfrm>
          <a:prstGeom prst="rect">
            <a:avLst/>
          </a:prstGeom>
          <a:noFill/>
        </p:spPr>
        <p:txBody>
          <a:bodyPr wrap="square" lIns="635" tIns="635" rIns="635" bIns="635" rtlCol="0" anchor="t">
            <a:normAutofit/>
          </a:bodyPr>
          <a:lstStyle/>
          <a:p>
            <a:pPr marL="0" indent="0">
              <a:buNone/>
            </a:pPr>
            <a:r>
              <a:rPr lang="en-US" sz="1480" dirty="0">
                <a:solidFill>
                  <a:srgbClr val="112033"/>
                </a:solidFill>
              </a:rPr>
              <a:t>• d0001 σημαίνει απόδοση 1 trading day μετά.
</a:t>
            </a:r>
            <a:r>
              <a:rPr lang="en-US" sz="1480" dirty="0">
                <a:solidFill>
                  <a:srgbClr val="112033"/>
                </a:solidFill>
              </a:rPr>
              <a:t>• d0021 περίπου ένας μήνας.
</a:t>
            </a:r>
            <a:r>
              <a:rPr lang="en-US" sz="1480" dirty="0">
                <a:solidFill>
                  <a:srgbClr val="112033"/>
                </a:solidFill>
              </a:rPr>
              <a:t>• d0252 περίπου ένα έτος.
</a:t>
            </a:r>
            <a:r>
              <a:rPr lang="en-US" sz="1480" dirty="0">
                <a:solidFill>
                  <a:srgbClr val="112033"/>
                </a:solidFill>
              </a:rPr>
              <a:t>• d1260 περίπου πέντε έτη.</a:t>
            </a:r>
            <a:endParaRPr lang="en-US" sz="1480" dirty="0"/>
          </a:p>
        </p:txBody>
      </p:sp>
      <p:sp>
        <p:nvSpPr>
          <p:cNvPr id="19" name="Text 17"/>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20" name="Text 18"/>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6. Ημερομηνίες: training, validation, test και prediction start</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Ο χρονικός διαχωρισμός προστατεύει από data leakage</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868680" y="2240280"/>
            <a:ext cx="2560320" cy="868680"/>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400" b="1" dirty="0">
                <a:solidFill>
                  <a:srgbClr val="112033"/>
                </a:solidFill>
              </a:rPr>
              <a:t>Train</a:t>
            </a:r>
            <a:endParaRPr lang="en-US" sz="1400" dirty="0"/>
          </a:p>
          <a:p>
            <a:pPr marL="0" indent="0" algn="ctr">
              <a:buNone/>
            </a:pPr>
            <a:r>
              <a:rPr lang="en-US" sz="1400" b="1" dirty="0">
                <a:solidFill>
                  <a:srgbClr val="112033"/>
                </a:solidFill>
              </a:rPr>
              <a:t>μαθαίνει παραμέτρους</a:t>
            </a:r>
            <a:endParaRPr lang="en-US" sz="1400" dirty="0"/>
          </a:p>
        </p:txBody>
      </p:sp>
      <p:sp>
        <p:nvSpPr>
          <p:cNvPr id="6" name="Text 4"/>
          <p:cNvSpPr/>
          <p:nvPr/>
        </p:nvSpPr>
        <p:spPr>
          <a:xfrm>
            <a:off x="3703320" y="2240280"/>
            <a:ext cx="2194560" cy="868680"/>
          </a:xfrm>
          <a:prstGeom prst="rect">
            <a:avLst/>
          </a:prstGeom>
          <a:solidFill>
            <a:srgbClr val="ECFDF5"/>
          </a:solidFill>
          <a:ln w="12700">
            <a:solidFill>
              <a:srgbClr val="A7F3D0"/>
            </a:solidFill>
          </a:ln>
        </p:spPr>
        <p:txBody>
          <a:bodyPr wrap="square" lIns="1016" tIns="1016" rIns="1016" bIns="1016" rtlCol="0" anchor="ctr">
            <a:normAutofit/>
          </a:bodyPr>
          <a:lstStyle/>
          <a:p>
            <a:pPr marL="0" indent="0" algn="ctr">
              <a:buNone/>
            </a:pPr>
            <a:r>
              <a:rPr lang="en-US" sz="1400" b="1" dirty="0">
                <a:solidFill>
                  <a:srgbClr val="112033"/>
                </a:solidFill>
              </a:rPr>
              <a:t>Validation</a:t>
            </a:r>
            <a:endParaRPr lang="en-US" sz="1400" dirty="0"/>
          </a:p>
          <a:p>
            <a:pPr marL="0" indent="0" algn="ctr">
              <a:buNone/>
            </a:pPr>
            <a:r>
              <a:rPr lang="en-US" sz="1400" b="1" dirty="0">
                <a:solidFill>
                  <a:srgbClr val="112033"/>
                </a:solidFill>
              </a:rPr>
              <a:t>early stopping</a:t>
            </a:r>
            <a:endParaRPr lang="en-US" sz="1400" dirty="0"/>
          </a:p>
        </p:txBody>
      </p:sp>
      <p:sp>
        <p:nvSpPr>
          <p:cNvPr id="7" name="Text 5"/>
          <p:cNvSpPr/>
          <p:nvPr/>
        </p:nvSpPr>
        <p:spPr>
          <a:xfrm>
            <a:off x="6172200" y="2240280"/>
            <a:ext cx="2194560" cy="868680"/>
          </a:xfrm>
          <a:prstGeom prst="rect">
            <a:avLst/>
          </a:prstGeom>
          <a:solidFill>
            <a:srgbClr val="FEF3C7"/>
          </a:solidFill>
          <a:ln w="12700">
            <a:solidFill>
              <a:srgbClr val="FDE68A"/>
            </a:solidFill>
          </a:ln>
        </p:spPr>
        <p:txBody>
          <a:bodyPr wrap="square" lIns="1016" tIns="1016" rIns="1016" bIns="1016" rtlCol="0" anchor="ctr">
            <a:normAutofit/>
          </a:bodyPr>
          <a:lstStyle/>
          <a:p>
            <a:pPr marL="0" indent="0" algn="ctr">
              <a:buNone/>
            </a:pPr>
            <a:r>
              <a:rPr lang="en-US" sz="1400" b="1" dirty="0">
                <a:solidFill>
                  <a:srgbClr val="112033"/>
                </a:solidFill>
              </a:rPr>
              <a:t>Test</a:t>
            </a:r>
            <a:endParaRPr lang="en-US" sz="1400" dirty="0"/>
          </a:p>
          <a:p>
            <a:pPr marL="0" indent="0" algn="ctr">
              <a:buNone/>
            </a:pPr>
            <a:r>
              <a:rPr lang="en-US" sz="1400" b="1" dirty="0">
                <a:solidFill>
                  <a:srgbClr val="112033"/>
                </a:solidFill>
              </a:rPr>
              <a:t>τελική αξιολόγηση</a:t>
            </a:r>
            <a:endParaRPr lang="en-US" sz="1400" dirty="0"/>
          </a:p>
        </p:txBody>
      </p:sp>
      <p:sp>
        <p:nvSpPr>
          <p:cNvPr id="8" name="Text 6"/>
          <p:cNvSpPr/>
          <p:nvPr/>
        </p:nvSpPr>
        <p:spPr>
          <a:xfrm>
            <a:off x="8641080" y="2240280"/>
            <a:ext cx="2697480" cy="868680"/>
          </a:xfrm>
          <a:prstGeom prst="rect">
            <a:avLst/>
          </a:prstGeom>
          <a:solidFill>
            <a:srgbClr val="FFE4E6"/>
          </a:solidFill>
          <a:ln w="12700">
            <a:solidFill>
              <a:srgbClr val="FDA4AF"/>
            </a:solidFill>
          </a:ln>
        </p:spPr>
        <p:txBody>
          <a:bodyPr wrap="square" lIns="1016" tIns="1016" rIns="1016" bIns="1016" rtlCol="0" anchor="ctr">
            <a:normAutofit/>
          </a:bodyPr>
          <a:lstStyle/>
          <a:p>
            <a:pPr marL="0" indent="0" algn="ctr">
              <a:buNone/>
            </a:pPr>
            <a:r>
              <a:rPr lang="en-US" sz="1400" b="1" dirty="0">
                <a:solidFill>
                  <a:srgbClr val="112033"/>
                </a:solidFill>
              </a:rPr>
              <a:t>Forecast path</a:t>
            </a:r>
            <a:endParaRPr lang="en-US" sz="1400" dirty="0"/>
          </a:p>
          <a:p>
            <a:pPr marL="0" indent="0" algn="ctr">
              <a:buNone/>
            </a:pPr>
            <a:r>
              <a:rPr lang="en-US" sz="1400" b="1" dirty="0">
                <a:solidFill>
                  <a:srgbClr val="112033"/>
                </a:solidFill>
              </a:rPr>
              <a:t>μετά το train-end</a:t>
            </a:r>
            <a:endParaRPr lang="en-US" sz="1400" dirty="0"/>
          </a:p>
        </p:txBody>
      </p:sp>
      <p:sp>
        <p:nvSpPr>
          <p:cNvPr id="9" name="Text 7"/>
          <p:cNvSpPr/>
          <p:nvPr/>
        </p:nvSpPr>
        <p:spPr>
          <a:xfrm>
            <a:off x="3493008" y="2487168"/>
            <a:ext cx="164592" cy="320040"/>
          </a:xfrm>
          <a:prstGeom prst="rect">
            <a:avLst/>
          </a:prstGeom>
          <a:noFill/>
        </p:spPr>
        <p:txBody>
          <a:bodyPr wrap="square" lIns="0" tIns="0" rIns="0" bIns="0" rtlCol="0" anchor="ctr"/>
          <a:lstStyle/>
          <a:p>
            <a:pPr marL="0" indent="0" algn="ctr">
              <a:buNone/>
            </a:pPr>
            <a:r>
              <a:rPr lang="en-US" sz="1800" b="1" dirty="0">
                <a:solidFill>
                  <a:srgbClr val="52616B"/>
                </a:solidFill>
              </a:rPr>
              <a:t>→</a:t>
            </a:r>
            <a:endParaRPr lang="en-US" sz="1800" dirty="0"/>
          </a:p>
        </p:txBody>
      </p:sp>
      <p:sp>
        <p:nvSpPr>
          <p:cNvPr id="10" name="Text 8"/>
          <p:cNvSpPr/>
          <p:nvPr/>
        </p:nvSpPr>
        <p:spPr>
          <a:xfrm>
            <a:off x="5971032" y="2487168"/>
            <a:ext cx="164592" cy="320040"/>
          </a:xfrm>
          <a:prstGeom prst="rect">
            <a:avLst/>
          </a:prstGeom>
          <a:noFill/>
        </p:spPr>
        <p:txBody>
          <a:bodyPr wrap="square" lIns="0" tIns="0" rIns="0" bIns="0" rtlCol="0" anchor="ctr"/>
          <a:lstStyle/>
          <a:p>
            <a:pPr marL="0" indent="0" algn="ctr">
              <a:buNone/>
            </a:pPr>
            <a:r>
              <a:rPr lang="en-US" sz="1800" b="1" dirty="0">
                <a:solidFill>
                  <a:srgbClr val="52616B"/>
                </a:solidFill>
              </a:rPr>
              <a:t>→</a:t>
            </a:r>
            <a:endParaRPr lang="en-US" sz="1800" dirty="0"/>
          </a:p>
        </p:txBody>
      </p:sp>
      <p:sp>
        <p:nvSpPr>
          <p:cNvPr id="11" name="Text 9"/>
          <p:cNvSpPr/>
          <p:nvPr/>
        </p:nvSpPr>
        <p:spPr>
          <a:xfrm>
            <a:off x="8449056" y="2487168"/>
            <a:ext cx="164592" cy="320040"/>
          </a:xfrm>
          <a:prstGeom prst="rect">
            <a:avLst/>
          </a:prstGeom>
          <a:noFill/>
        </p:spPr>
        <p:txBody>
          <a:bodyPr wrap="square" lIns="0" tIns="0" rIns="0" bIns="0" rtlCol="0" anchor="ctr"/>
          <a:lstStyle/>
          <a:p>
            <a:pPr marL="0" indent="0" algn="ctr">
              <a:buNone/>
            </a:pPr>
            <a:r>
              <a:rPr lang="en-US" sz="1800" b="1" dirty="0">
                <a:solidFill>
                  <a:srgbClr val="52616B"/>
                </a:solidFill>
              </a:rPr>
              <a:t>→</a:t>
            </a:r>
            <a:endParaRPr lang="en-US" sz="1800" dirty="0"/>
          </a:p>
        </p:txBody>
      </p:sp>
      <p:sp>
        <p:nvSpPr>
          <p:cNvPr id="12" name="Text 10"/>
          <p:cNvSpPr/>
          <p:nvPr/>
        </p:nvSpPr>
        <p:spPr>
          <a:xfrm>
            <a:off x="2880360" y="3794760"/>
            <a:ext cx="6309360" cy="594360"/>
          </a:xfrm>
          <a:prstGeom prst="rect">
            <a:avLst/>
          </a:prstGeom>
          <a:solidFill>
            <a:srgbClr val="FFFFFF"/>
          </a:solidFill>
          <a:ln w="19050">
            <a:solidFill>
              <a:srgbClr val="EF4444"/>
            </a:solidFill>
          </a:ln>
        </p:spPr>
        <p:txBody>
          <a:bodyPr wrap="square" lIns="1016" tIns="1016" rIns="1016" bIns="1016" rtlCol="0" anchor="ctr">
            <a:normAutofit/>
          </a:bodyPr>
          <a:lstStyle/>
          <a:p>
            <a:pPr marL="0" indent="0" algn="ctr">
              <a:buNone/>
            </a:pPr>
            <a:r>
              <a:rPr lang="en-US" sz="1800" b="1" dirty="0">
                <a:solidFill>
                  <a:srgbClr val="112033"/>
                </a:solidFill>
              </a:rPr>
              <a:t>Prediction origin = train-end</a:t>
            </a:r>
            <a:endParaRPr lang="en-US" sz="1800" dirty="0"/>
          </a:p>
        </p:txBody>
      </p:sp>
      <p:sp>
        <p:nvSpPr>
          <p:cNvPr id="13" name="Text 11"/>
          <p:cNvSpPr/>
          <p:nvPr/>
        </p:nvSpPr>
        <p:spPr>
          <a:xfrm>
            <a:off x="1143000" y="4864608"/>
            <a:ext cx="9966960" cy="960120"/>
          </a:xfrm>
          <a:prstGeom prst="rect">
            <a:avLst/>
          </a:prstGeom>
          <a:noFill/>
        </p:spPr>
        <p:txBody>
          <a:bodyPr wrap="square" lIns="635" tIns="635" rIns="635" bIns="635" rtlCol="0" anchor="t">
            <a:normAutofit/>
          </a:bodyPr>
          <a:lstStyle/>
          <a:p>
            <a:pPr marL="0" indent="0">
              <a:buNone/>
            </a:pPr>
            <a:r>
              <a:rPr lang="en-US" sz="1530" dirty="0">
                <a:solidFill>
                  <a:srgbClr val="112033"/>
                </a:solidFill>
              </a:rPr>
              <a:t>• Δεν γίνεται τυχαίο train/test split, γιατί οι χρονοσειρές έχουν χρονική σειρά.
</a:t>
            </a:r>
            <a:r>
              <a:rPr lang="en-US" sz="1530" dirty="0">
                <a:solidFill>
                  <a:srgbClr val="112033"/>
                </a:solidFill>
              </a:rPr>
              <a:t>• Το validation δείχνει αν το μοντέλο υπερπροσαρμόζεται.
</a:t>
            </a:r>
            <a:r>
              <a:rPr lang="en-US" sz="1530" dirty="0">
                <a:solidFill>
                  <a:srgbClr val="112033"/>
                </a:solidFill>
              </a:rPr>
              <a:t>• Το forecast ξεκινά από την ημερομηνία train-end στο backtest scenario.</a:t>
            </a:r>
            <a:endParaRPr lang="en-US" sz="1530" dirty="0"/>
          </a:p>
        </p:txBody>
      </p:sp>
      <p:sp>
        <p:nvSpPr>
          <p:cNvPr id="14" name="Text 12"/>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5" name="Text 13"/>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7. Τα τρία μοντέλα που συγκρίνουμε</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Κάθε μοντέλο επεξεργάζεται το ίδιο input αλλά με διαφορετική αρχιτεκτονική</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822960" y="1600200"/>
            <a:ext cx="3154680" cy="2240280"/>
          </a:xfrm>
          <a:prstGeom prst="rect">
            <a:avLst/>
          </a:prstGeom>
          <a:solidFill>
            <a:srgbClr val="E0F2FE"/>
          </a:solidFill>
          <a:ln w="12700">
            <a:solidFill>
              <a:srgbClr val="BAE6FD"/>
            </a:solidFill>
          </a:ln>
        </p:spPr>
        <p:txBody>
          <a:bodyPr wrap="square" lIns="1778" tIns="1778" rIns="1778" bIns="1778" rtlCol="0" anchor="ctr">
            <a:normAutofit/>
          </a:bodyPr>
          <a:lstStyle/>
          <a:p>
            <a:pPr marL="0" indent="0" algn="l">
              <a:buNone/>
            </a:pPr>
            <a:r>
              <a:rPr lang="en-US" sz="1360" b="1" dirty="0">
                <a:solidFill>
                  <a:srgbClr val="112033"/>
                </a:solidFill>
              </a:rPr>
              <a:t>CNN</a:t>
            </a:r>
            <a:endParaRPr lang="en-US" sz="1360" dirty="0"/>
          </a:p>
          <a:p>
            <a:pPr marL="0" indent="0" algn="l">
              <a:buNone/>
            </a:pPr>
            <a:r>
              <a:rPr lang="en-US" sz="1360" b="1" dirty="0">
                <a:solidFill>
                  <a:srgbClr val="112033"/>
                </a:solidFill>
              </a:rPr>
              <a:t>Convolutional Neural Network</a:t>
            </a:r>
            <a:endParaRPr lang="en-US" sz="1360" dirty="0"/>
          </a:p>
          <a:p>
            <a:pPr marL="0" indent="0" algn="l">
              <a:buNone/>
            </a:pPr>
            <a:endParaRPr lang="en-US" sz="1360" dirty="0"/>
          </a:p>
          <a:p>
            <a:pPr marL="0" indent="0" algn="l">
              <a:buNone/>
            </a:pPr>
            <a:r>
              <a:rPr lang="en-US" sz="1360" b="1" dirty="0">
                <a:solidFill>
                  <a:srgbClr val="112033"/>
                </a:solidFill>
              </a:rPr>
              <a:t>Εντοπίζει τοπικά χρονικά μοτίβα στο παράθυρο εισόδου.</a:t>
            </a:r>
            <a:endParaRPr lang="en-US" sz="1360" dirty="0"/>
          </a:p>
        </p:txBody>
      </p:sp>
      <p:sp>
        <p:nvSpPr>
          <p:cNvPr id="6" name="Text 4"/>
          <p:cNvSpPr/>
          <p:nvPr/>
        </p:nvSpPr>
        <p:spPr>
          <a:xfrm>
            <a:off x="4526280" y="1600200"/>
            <a:ext cx="3154680" cy="2240280"/>
          </a:xfrm>
          <a:prstGeom prst="rect">
            <a:avLst/>
          </a:prstGeom>
          <a:solidFill>
            <a:srgbClr val="F5F3FF"/>
          </a:solidFill>
          <a:ln w="12700">
            <a:solidFill>
              <a:srgbClr val="DDD6FE"/>
            </a:solidFill>
          </a:ln>
        </p:spPr>
        <p:txBody>
          <a:bodyPr wrap="square" lIns="1778" tIns="1778" rIns="1778" bIns="1778" rtlCol="0" anchor="ctr">
            <a:normAutofit/>
          </a:bodyPr>
          <a:lstStyle/>
          <a:p>
            <a:pPr marL="0" indent="0" algn="l">
              <a:buNone/>
            </a:pPr>
            <a:r>
              <a:rPr lang="en-US" sz="1360" b="1" dirty="0">
                <a:solidFill>
                  <a:srgbClr val="112033"/>
                </a:solidFill>
              </a:rPr>
              <a:t>TDNN</a:t>
            </a:r>
            <a:endParaRPr lang="en-US" sz="1360" dirty="0"/>
          </a:p>
          <a:p>
            <a:pPr marL="0" indent="0" algn="l">
              <a:buNone/>
            </a:pPr>
            <a:r>
              <a:rPr lang="en-US" sz="1360" b="1" dirty="0">
                <a:solidFill>
                  <a:srgbClr val="112033"/>
                </a:solidFill>
              </a:rPr>
              <a:t>Time Delay Neural Network</a:t>
            </a:r>
            <a:endParaRPr lang="en-US" sz="1360" dirty="0"/>
          </a:p>
          <a:p>
            <a:pPr marL="0" indent="0" algn="l">
              <a:buNone/>
            </a:pPr>
            <a:endParaRPr lang="en-US" sz="1360" dirty="0"/>
          </a:p>
          <a:p>
            <a:pPr marL="0" indent="0" algn="l">
              <a:buNone/>
            </a:pPr>
            <a:r>
              <a:rPr lang="en-US" sz="1360" b="1" dirty="0">
                <a:solidFill>
                  <a:srgbClr val="112033"/>
                </a:solidFill>
              </a:rPr>
              <a:t>Χρησιμοποιεί χρονικές καθυστερήσεις για διαφορετικές κλίμακες μνήμης.</a:t>
            </a:r>
            <a:endParaRPr lang="en-US" sz="1360" dirty="0"/>
          </a:p>
        </p:txBody>
      </p:sp>
      <p:sp>
        <p:nvSpPr>
          <p:cNvPr id="7" name="Text 5"/>
          <p:cNvSpPr/>
          <p:nvPr/>
        </p:nvSpPr>
        <p:spPr>
          <a:xfrm>
            <a:off x="8229600" y="1600200"/>
            <a:ext cx="3154680" cy="2240280"/>
          </a:xfrm>
          <a:prstGeom prst="rect">
            <a:avLst/>
          </a:prstGeom>
          <a:solidFill>
            <a:srgbClr val="FEF3C7"/>
          </a:solidFill>
          <a:ln w="12700">
            <a:solidFill>
              <a:srgbClr val="FDE68A"/>
            </a:solidFill>
          </a:ln>
        </p:spPr>
        <p:txBody>
          <a:bodyPr wrap="square" lIns="1778" tIns="1778" rIns="1778" bIns="1778" rtlCol="0" anchor="ctr">
            <a:normAutofit/>
          </a:bodyPr>
          <a:lstStyle/>
          <a:p>
            <a:pPr marL="0" indent="0" algn="l">
              <a:buNone/>
            </a:pPr>
            <a:r>
              <a:rPr lang="en-US" sz="1360" b="1" dirty="0">
                <a:solidFill>
                  <a:srgbClr val="112033"/>
                </a:solidFill>
              </a:rPr>
              <a:t>CNN–LSTM</a:t>
            </a:r>
            <a:endParaRPr lang="en-US" sz="1360" dirty="0"/>
          </a:p>
          <a:p>
            <a:pPr marL="0" indent="0" algn="l">
              <a:buNone/>
            </a:pPr>
            <a:r>
              <a:rPr lang="en-US" sz="1360" b="1" dirty="0">
                <a:solidFill>
                  <a:srgbClr val="112033"/>
                </a:solidFill>
              </a:rPr>
              <a:t>Hybrid sequence model</a:t>
            </a:r>
            <a:endParaRPr lang="en-US" sz="1360" dirty="0"/>
          </a:p>
          <a:p>
            <a:pPr marL="0" indent="0" algn="l">
              <a:buNone/>
            </a:pPr>
            <a:endParaRPr lang="en-US" sz="1360" dirty="0"/>
          </a:p>
          <a:p>
            <a:pPr marL="0" indent="0" algn="l">
              <a:buNone/>
            </a:pPr>
            <a:r>
              <a:rPr lang="en-US" sz="1360" b="1" dirty="0">
                <a:solidFill>
                  <a:srgbClr val="112033"/>
                </a:solidFill>
              </a:rPr>
              <a:t>Το CNN εξάγει μοτίβα και το LSTM κρατά χρονική μνήμη.</a:t>
            </a:r>
            <a:endParaRPr lang="en-US" sz="1360" dirty="0"/>
          </a:p>
        </p:txBody>
      </p:sp>
      <p:sp>
        <p:nvSpPr>
          <p:cNvPr id="8" name="Text 6"/>
          <p:cNvSpPr/>
          <p:nvPr/>
        </p:nvSpPr>
        <p:spPr>
          <a:xfrm>
            <a:off x="1143000" y="4736592"/>
            <a:ext cx="9966960" cy="640080"/>
          </a:xfrm>
          <a:prstGeom prst="rect">
            <a:avLst/>
          </a:prstGeom>
          <a:solidFill>
            <a:srgbClr val="FFFFFF"/>
          </a:solidFill>
          <a:ln w="19050">
            <a:solidFill>
              <a:srgbClr val="008C95"/>
            </a:solidFill>
          </a:ln>
        </p:spPr>
        <p:txBody>
          <a:bodyPr wrap="square" lIns="1016" tIns="1016" rIns="1016" bIns="1016" rtlCol="0" anchor="ctr">
            <a:normAutofit/>
          </a:bodyPr>
          <a:lstStyle/>
          <a:p>
            <a:pPr marL="0" indent="0" algn="ctr">
              <a:buNone/>
            </a:pPr>
            <a:r>
              <a:rPr lang="en-US" sz="1800" b="1" dirty="0">
                <a:solidFill>
                  <a:srgbClr val="112033"/>
                </a:solidFill>
              </a:rPr>
              <a:t>Όλα έχουν τελική έξοδο:  ŷₜ = (r̂ₜ,₁, r̂ₜ,₂, …, r̂ₜ,ᴴ)</a:t>
            </a:r>
            <a:endParaRPr lang="en-US" sz="1800" dirty="0"/>
          </a:p>
        </p:txBody>
      </p:sp>
      <p:sp>
        <p:nvSpPr>
          <p:cNvPr id="9" name="Text 7"/>
          <p:cNvSpPr/>
          <p:nvPr/>
        </p:nvSpPr>
        <p:spPr>
          <a:xfrm>
            <a:off x="1965960" y="5715000"/>
            <a:ext cx="8229600" cy="457200"/>
          </a:xfrm>
          <a:prstGeom prst="rect">
            <a:avLst/>
          </a:prstGeom>
          <a:solidFill>
            <a:srgbClr val="ECFDF5"/>
          </a:solidFill>
          <a:ln w="12700">
            <a:solidFill>
              <a:srgbClr val="A7F3D0"/>
            </a:solidFill>
          </a:ln>
        </p:spPr>
        <p:txBody>
          <a:bodyPr wrap="square" lIns="1016" tIns="1016" rIns="1016" bIns="1016" rtlCol="0" anchor="ctr">
            <a:normAutofit/>
          </a:bodyPr>
          <a:lstStyle/>
          <a:p>
            <a:pPr marL="0" indent="0" algn="ctr">
              <a:buNone/>
            </a:pPr>
            <a:r>
              <a:rPr lang="en-US" sz="1600" b="1" dirty="0">
                <a:solidFill>
                  <a:srgbClr val="112033"/>
                </a:solidFill>
              </a:rPr>
              <a:t>Το καλύτερο μοντέλο επιλέγεται με βάση τις μετρικές στο test set.</a:t>
            </a:r>
            <a:endParaRPr lang="en-US" sz="1600" dirty="0"/>
          </a:p>
        </p:txBody>
      </p:sp>
      <p:sp>
        <p:nvSpPr>
          <p:cNvPr id="10" name="Text 8"/>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1" name="Text 9"/>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8. Πώς λειτουργεί τεχνικά η πρόβλεψη</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Το μοντέλο δεν χρειάζεται μελλοντικά inputs· προβλέπει απευθείας όλες τις μελλοντικές αποδόσεις</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777240" y="1828800"/>
            <a:ext cx="2880360" cy="1005840"/>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420" b="1" dirty="0">
                <a:solidFill>
                  <a:srgbClr val="112033"/>
                </a:solidFill>
              </a:rPr>
              <a:t>Τελευταίες 60 πραγματικές ημέρες</a:t>
            </a:r>
            <a:endParaRPr lang="en-US" sz="1420" dirty="0"/>
          </a:p>
          <a:p>
            <a:pPr marL="0" indent="0" algn="ctr">
              <a:buNone/>
            </a:pPr>
            <a:r>
              <a:rPr lang="en-US" sz="1420" b="1" dirty="0">
                <a:solidFill>
                  <a:srgbClr val="112033"/>
                </a:solidFill>
              </a:rPr>
              <a:t>μέχρι το origin date</a:t>
            </a:r>
            <a:endParaRPr lang="en-US" sz="1420" dirty="0"/>
          </a:p>
        </p:txBody>
      </p:sp>
      <p:sp>
        <p:nvSpPr>
          <p:cNvPr id="6" name="Text 4"/>
          <p:cNvSpPr/>
          <p:nvPr/>
        </p:nvSpPr>
        <p:spPr>
          <a:xfrm>
            <a:off x="3886200" y="2139696"/>
            <a:ext cx="457200" cy="320040"/>
          </a:xfrm>
          <a:prstGeom prst="rect">
            <a:avLst/>
          </a:prstGeom>
          <a:noFill/>
        </p:spPr>
        <p:txBody>
          <a:bodyPr wrap="square" lIns="0" tIns="0" rIns="0" bIns="0" rtlCol="0" anchor="ctr"/>
          <a:lstStyle/>
          <a:p>
            <a:pPr marL="0" indent="0" algn="ctr">
              <a:buNone/>
            </a:pPr>
            <a:r>
              <a:rPr lang="en-US" sz="2800" b="1" dirty="0">
                <a:solidFill>
                  <a:srgbClr val="52616B"/>
                </a:solidFill>
              </a:rPr>
              <a:t>→</a:t>
            </a:r>
            <a:endParaRPr lang="en-US" sz="2800" dirty="0"/>
          </a:p>
        </p:txBody>
      </p:sp>
      <p:sp>
        <p:nvSpPr>
          <p:cNvPr id="7" name="Text 5"/>
          <p:cNvSpPr/>
          <p:nvPr/>
        </p:nvSpPr>
        <p:spPr>
          <a:xfrm>
            <a:off x="4526280" y="1828800"/>
            <a:ext cx="1965960" cy="1005840"/>
          </a:xfrm>
          <a:prstGeom prst="rect">
            <a:avLst/>
          </a:prstGeom>
          <a:solidFill>
            <a:srgbClr val="F5F3FF"/>
          </a:solidFill>
          <a:ln w="12700">
            <a:solidFill>
              <a:srgbClr val="DDD6FE"/>
            </a:solidFill>
          </a:ln>
        </p:spPr>
        <p:txBody>
          <a:bodyPr wrap="square" lIns="1016" tIns="1016" rIns="1016" bIns="1016" rtlCol="0" anchor="ctr">
            <a:normAutofit/>
          </a:bodyPr>
          <a:lstStyle/>
          <a:p>
            <a:pPr marL="0" indent="0" algn="ctr">
              <a:buNone/>
            </a:pPr>
            <a:r>
              <a:rPr lang="en-US" sz="1550" b="1" dirty="0">
                <a:solidFill>
                  <a:srgbClr val="112033"/>
                </a:solidFill>
              </a:rPr>
              <a:t>fθ(Xₜ)</a:t>
            </a:r>
            <a:endParaRPr lang="en-US" sz="1550" dirty="0"/>
          </a:p>
          <a:p>
            <a:pPr marL="0" indent="0" algn="ctr">
              <a:buNone/>
            </a:pPr>
            <a:r>
              <a:rPr lang="en-US" sz="1550" b="1" dirty="0">
                <a:solidFill>
                  <a:srgbClr val="112033"/>
                </a:solidFill>
              </a:rPr>
              <a:t>νευρωνικό μοντέλο</a:t>
            </a:r>
            <a:endParaRPr lang="en-US" sz="1550" dirty="0"/>
          </a:p>
        </p:txBody>
      </p:sp>
      <p:sp>
        <p:nvSpPr>
          <p:cNvPr id="8" name="Text 6"/>
          <p:cNvSpPr/>
          <p:nvPr/>
        </p:nvSpPr>
        <p:spPr>
          <a:xfrm>
            <a:off x="6720840" y="2139696"/>
            <a:ext cx="457200" cy="320040"/>
          </a:xfrm>
          <a:prstGeom prst="rect">
            <a:avLst/>
          </a:prstGeom>
          <a:noFill/>
        </p:spPr>
        <p:txBody>
          <a:bodyPr wrap="square" lIns="0" tIns="0" rIns="0" bIns="0" rtlCol="0" anchor="ctr"/>
          <a:lstStyle/>
          <a:p>
            <a:pPr marL="0" indent="0" algn="ctr">
              <a:buNone/>
            </a:pPr>
            <a:r>
              <a:rPr lang="en-US" sz="2800" b="1" dirty="0">
                <a:solidFill>
                  <a:srgbClr val="52616B"/>
                </a:solidFill>
              </a:rPr>
              <a:t>→</a:t>
            </a:r>
            <a:endParaRPr lang="en-US" sz="2800" dirty="0"/>
          </a:p>
        </p:txBody>
      </p:sp>
      <p:sp>
        <p:nvSpPr>
          <p:cNvPr id="9" name="Text 7"/>
          <p:cNvSpPr/>
          <p:nvPr/>
        </p:nvSpPr>
        <p:spPr>
          <a:xfrm>
            <a:off x="7360920" y="1828800"/>
            <a:ext cx="2926080" cy="1005840"/>
          </a:xfrm>
          <a:prstGeom prst="rect">
            <a:avLst/>
          </a:prstGeom>
          <a:solidFill>
            <a:srgbClr val="ECFDF5"/>
          </a:solidFill>
          <a:ln w="12700">
            <a:solidFill>
              <a:srgbClr val="A7F3D0"/>
            </a:solidFill>
          </a:ln>
        </p:spPr>
        <p:txBody>
          <a:bodyPr wrap="square" lIns="1016" tIns="1016" rIns="1016" bIns="1016" rtlCol="0" anchor="ctr">
            <a:normAutofit/>
          </a:bodyPr>
          <a:lstStyle/>
          <a:p>
            <a:pPr marL="0" indent="0" algn="ctr">
              <a:buNone/>
            </a:pPr>
            <a:r>
              <a:rPr lang="en-US" sz="1420" b="1" dirty="0">
                <a:solidFill>
                  <a:srgbClr val="112033"/>
                </a:solidFill>
              </a:rPr>
              <a:t>Προβλεπόμενες αποδόσεις</a:t>
            </a:r>
            <a:endParaRPr lang="en-US" sz="1420" dirty="0"/>
          </a:p>
          <a:p>
            <a:pPr marL="0" indent="0" algn="ctr">
              <a:buNone/>
            </a:pPr>
            <a:r>
              <a:rPr lang="en-US" sz="1420" b="1" dirty="0">
                <a:solidFill>
                  <a:srgbClr val="112033"/>
                </a:solidFill>
              </a:rPr>
              <a:t>r̂ₜ,₁ … r̂ₜ,ᴴ</a:t>
            </a:r>
            <a:endParaRPr lang="en-US" sz="1420" dirty="0"/>
          </a:p>
        </p:txBody>
      </p:sp>
      <p:sp>
        <p:nvSpPr>
          <p:cNvPr id="10" name="Text 8"/>
          <p:cNvSpPr/>
          <p:nvPr/>
        </p:nvSpPr>
        <p:spPr>
          <a:xfrm>
            <a:off x="10479024" y="2139696"/>
            <a:ext cx="457200" cy="320040"/>
          </a:xfrm>
          <a:prstGeom prst="rect">
            <a:avLst/>
          </a:prstGeom>
          <a:noFill/>
        </p:spPr>
        <p:txBody>
          <a:bodyPr wrap="square" lIns="0" tIns="0" rIns="0" bIns="0" rtlCol="0" anchor="ctr"/>
          <a:lstStyle/>
          <a:p>
            <a:pPr marL="0" indent="0" algn="ctr">
              <a:buNone/>
            </a:pPr>
            <a:r>
              <a:rPr lang="en-US" sz="2800" b="1" dirty="0">
                <a:solidFill>
                  <a:srgbClr val="52616B"/>
                </a:solidFill>
              </a:rPr>
              <a:t>→</a:t>
            </a:r>
            <a:endParaRPr lang="en-US" sz="2800" dirty="0"/>
          </a:p>
        </p:txBody>
      </p:sp>
      <p:sp>
        <p:nvSpPr>
          <p:cNvPr id="11" name="Text 9"/>
          <p:cNvSpPr/>
          <p:nvPr/>
        </p:nvSpPr>
        <p:spPr>
          <a:xfrm>
            <a:off x="10972800" y="1828800"/>
            <a:ext cx="822960" cy="1005840"/>
          </a:xfrm>
          <a:prstGeom prst="rect">
            <a:avLst/>
          </a:prstGeom>
          <a:solidFill>
            <a:srgbClr val="FFE4E6"/>
          </a:solidFill>
          <a:ln w="12700">
            <a:solidFill>
              <a:srgbClr val="FDA4AF"/>
            </a:solidFill>
          </a:ln>
        </p:spPr>
        <p:txBody>
          <a:bodyPr wrap="square" lIns="1016" tIns="1016" rIns="1016" bIns="1016" rtlCol="0" anchor="ctr">
            <a:normAutofit/>
          </a:bodyPr>
          <a:lstStyle/>
          <a:p>
            <a:pPr marL="0" indent="0" algn="ctr">
              <a:buNone/>
            </a:pPr>
            <a:r>
              <a:rPr lang="en-US" sz="1320" b="1" dirty="0">
                <a:solidFill>
                  <a:srgbClr val="112033"/>
                </a:solidFill>
              </a:rPr>
              <a:t>Τιμές</a:t>
            </a:r>
            <a:endParaRPr lang="en-US" sz="1320" dirty="0"/>
          </a:p>
          <a:p>
            <a:pPr marL="0" indent="0" algn="ctr">
              <a:buNone/>
            </a:pPr>
            <a:r>
              <a:rPr lang="en-US" sz="1320" b="1" dirty="0">
                <a:solidFill>
                  <a:srgbClr val="112033"/>
                </a:solidFill>
              </a:rPr>
              <a:t>P̂ₜ₊ₖ</a:t>
            </a:r>
            <a:endParaRPr lang="en-US" sz="1320" dirty="0"/>
          </a:p>
        </p:txBody>
      </p:sp>
      <p:sp>
        <p:nvSpPr>
          <p:cNvPr id="12" name="Text 10"/>
          <p:cNvSpPr/>
          <p:nvPr/>
        </p:nvSpPr>
        <p:spPr>
          <a:xfrm>
            <a:off x="2971800" y="3703320"/>
            <a:ext cx="6263640" cy="685800"/>
          </a:xfrm>
          <a:prstGeom prst="rect">
            <a:avLst/>
          </a:prstGeom>
          <a:solidFill>
            <a:srgbClr val="FFFFFF"/>
          </a:solidFill>
          <a:ln w="19050">
            <a:solidFill>
              <a:srgbClr val="6D5DFB"/>
            </a:solidFill>
          </a:ln>
        </p:spPr>
        <p:txBody>
          <a:bodyPr wrap="square" lIns="1016" tIns="1016" rIns="1016" bIns="1016" rtlCol="0" anchor="ctr">
            <a:normAutofit/>
          </a:bodyPr>
          <a:lstStyle/>
          <a:p>
            <a:pPr marL="0" indent="0" algn="ctr">
              <a:buNone/>
            </a:pPr>
            <a:r>
              <a:rPr lang="en-US" sz="1800" b="1" dirty="0">
                <a:solidFill>
                  <a:srgbClr val="112033"/>
                </a:solidFill>
              </a:rPr>
              <a:t>P̂ₜ₊ₖ = Pₜ · exp(r̂ₜ,ₖ)</a:t>
            </a:r>
            <a:endParaRPr lang="en-US" sz="1800" dirty="0"/>
          </a:p>
        </p:txBody>
      </p:sp>
      <p:sp>
        <p:nvSpPr>
          <p:cNvPr id="13" name="Text 11"/>
          <p:cNvSpPr/>
          <p:nvPr/>
        </p:nvSpPr>
        <p:spPr>
          <a:xfrm>
            <a:off x="1143000" y="5257800"/>
            <a:ext cx="9966960" cy="594360"/>
          </a:xfrm>
          <a:prstGeom prst="rect">
            <a:avLst/>
          </a:prstGeom>
          <a:solidFill>
            <a:srgbClr val="FEF3C7"/>
          </a:solidFill>
          <a:ln w="12700">
            <a:solidFill>
              <a:srgbClr val="FDE68A"/>
            </a:solidFill>
          </a:ln>
        </p:spPr>
        <p:txBody>
          <a:bodyPr wrap="square" lIns="1016" tIns="1016" rIns="1016" bIns="1016" rtlCol="0" anchor="ctr">
            <a:normAutofit/>
          </a:bodyPr>
          <a:lstStyle/>
          <a:p>
            <a:pPr marL="0" indent="0" algn="ctr">
              <a:buNone/>
            </a:pPr>
            <a:r>
              <a:rPr lang="en-US" sz="1550" b="1" dirty="0">
                <a:solidFill>
                  <a:srgbClr val="112033"/>
                </a:solidFill>
              </a:rPr>
              <a:t>Σημαντικό: οι μελλοντικές ημερομηνίες χρησιμοποιούνται μόνο στον άξονα x του plot — όχι ως input.</a:t>
            </a:r>
            <a:endParaRPr lang="en-US" sz="1550" dirty="0"/>
          </a:p>
        </p:txBody>
      </p:sp>
      <p:sp>
        <p:nvSpPr>
          <p:cNvPr id="14" name="Text 12"/>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5" name="Text 13"/>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9. Direct Multi-Output vs Recursive Forecasting</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Γιατί δεν προβλέπουμε επαναληπτικά μία ημέρα τη φορά</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868680" y="1508760"/>
            <a:ext cx="4846320" cy="2286000"/>
          </a:xfrm>
          <a:prstGeom prst="rect">
            <a:avLst/>
          </a:prstGeom>
          <a:solidFill>
            <a:srgbClr val="FFE4E6"/>
          </a:solidFill>
          <a:ln w="12700">
            <a:solidFill>
              <a:srgbClr val="FDA4AF"/>
            </a:solidFill>
          </a:ln>
        </p:spPr>
        <p:txBody>
          <a:bodyPr wrap="square" lIns="1524" tIns="1524" rIns="1524" bIns="1524" rtlCol="0" anchor="ctr">
            <a:normAutofit/>
          </a:bodyPr>
          <a:lstStyle/>
          <a:p>
            <a:pPr marL="0" indent="0" algn="l">
              <a:buNone/>
            </a:pPr>
            <a:r>
              <a:rPr lang="en-US" sz="1380" b="1" dirty="0">
                <a:solidFill>
                  <a:srgbClr val="112033"/>
                </a:solidFill>
              </a:rPr>
              <a:t>Recursive Forecasting</a:t>
            </a:r>
            <a:endParaRPr lang="en-US" sz="1380" dirty="0"/>
          </a:p>
          <a:p>
            <a:pPr marL="0" indent="0" algn="l">
              <a:buNone/>
            </a:pPr>
            <a:endParaRPr lang="en-US" sz="1380" dirty="0"/>
          </a:p>
          <a:p>
            <a:pPr marL="0" indent="0" algn="l">
              <a:buNone/>
            </a:pPr>
            <a:r>
              <a:rPr lang="en-US" sz="1380" b="1" dirty="0">
                <a:solidFill>
                  <a:srgbClr val="112033"/>
                </a:solidFill>
              </a:rPr>
              <a:t>P̂ₜ₊₁ → input για P̂ₜ₊₂ → input για P̂ₜ₊₃</a:t>
            </a:r>
            <a:endParaRPr lang="en-US" sz="1380" dirty="0"/>
          </a:p>
          <a:p>
            <a:pPr marL="0" indent="0" algn="l">
              <a:buNone/>
            </a:pPr>
            <a:endParaRPr lang="en-US" sz="1380" dirty="0"/>
          </a:p>
          <a:p>
            <a:pPr marL="0" indent="0" algn="l">
              <a:buNone/>
            </a:pPr>
            <a:r>
              <a:rPr lang="en-US" sz="1380" b="1" dirty="0">
                <a:solidFill>
                  <a:srgbClr val="112033"/>
                </a:solidFill>
              </a:rPr>
              <a:t>Πρόβλημα: συσσώρευση σφάλματος και άγνωστοι μελλοντικοί δείκτες.</a:t>
            </a:r>
            <a:endParaRPr lang="en-US" sz="1380" dirty="0"/>
          </a:p>
        </p:txBody>
      </p:sp>
      <p:sp>
        <p:nvSpPr>
          <p:cNvPr id="6" name="Text 4"/>
          <p:cNvSpPr/>
          <p:nvPr/>
        </p:nvSpPr>
        <p:spPr>
          <a:xfrm>
            <a:off x="6492240" y="1508760"/>
            <a:ext cx="4846320" cy="2286000"/>
          </a:xfrm>
          <a:prstGeom prst="rect">
            <a:avLst/>
          </a:prstGeom>
          <a:solidFill>
            <a:srgbClr val="ECFDF5"/>
          </a:solidFill>
          <a:ln w="12700">
            <a:solidFill>
              <a:srgbClr val="A7F3D0"/>
            </a:solidFill>
          </a:ln>
        </p:spPr>
        <p:txBody>
          <a:bodyPr wrap="square" lIns="1524" tIns="1524" rIns="1524" bIns="1524" rtlCol="0" anchor="ctr">
            <a:normAutofit/>
          </a:bodyPr>
          <a:lstStyle/>
          <a:p>
            <a:pPr marL="0" indent="0" algn="l">
              <a:buNone/>
            </a:pPr>
            <a:r>
              <a:rPr lang="en-US" sz="1380" b="1" dirty="0">
                <a:solidFill>
                  <a:srgbClr val="112033"/>
                </a:solidFill>
              </a:rPr>
              <a:t>Direct Multi-Output Forecasting</a:t>
            </a:r>
            <a:endParaRPr lang="en-US" sz="1380" dirty="0"/>
          </a:p>
          <a:p>
            <a:pPr marL="0" indent="0" algn="l">
              <a:buNone/>
            </a:pPr>
            <a:endParaRPr lang="en-US" sz="1380" dirty="0"/>
          </a:p>
          <a:p>
            <a:pPr marL="0" indent="0" algn="l">
              <a:buNone/>
            </a:pPr>
            <a:r>
              <a:rPr lang="en-US" sz="1380" b="1" dirty="0">
                <a:solidFill>
                  <a:srgbClr val="112033"/>
                </a:solidFill>
              </a:rPr>
              <a:t>Xₜ → [r̂ₜ,₁, r̂ₜ,₂, …, r̂ₜ,ᴴ]</a:t>
            </a:r>
            <a:endParaRPr lang="en-US" sz="1380" dirty="0"/>
          </a:p>
          <a:p>
            <a:pPr marL="0" indent="0" algn="l">
              <a:buNone/>
            </a:pPr>
            <a:endParaRPr lang="en-US" sz="1380" dirty="0"/>
          </a:p>
          <a:p>
            <a:pPr marL="0" indent="0" algn="l">
              <a:buNone/>
            </a:pPr>
            <a:r>
              <a:rPr lang="en-US" sz="1380" b="1" dirty="0">
                <a:solidFill>
                  <a:srgbClr val="112033"/>
                </a:solidFill>
              </a:rPr>
              <a:t>Όλες οι μελλοντικές προβλέψεις παράγονται από το ίδιο πραγματικό ιστορικό παράθυρο.</a:t>
            </a:r>
            <a:endParaRPr lang="en-US" sz="1380" dirty="0"/>
          </a:p>
        </p:txBody>
      </p:sp>
      <p:sp>
        <p:nvSpPr>
          <p:cNvPr id="7" name="Text 5"/>
          <p:cNvSpPr/>
          <p:nvPr/>
        </p:nvSpPr>
        <p:spPr>
          <a:xfrm>
            <a:off x="1920240" y="4617720"/>
            <a:ext cx="8366760" cy="502920"/>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700" b="1" dirty="0">
                <a:solidFill>
                  <a:srgbClr val="112033"/>
                </a:solidFill>
              </a:rPr>
              <a:t>Στο project χρησιμοποιείται η δεύτερη προσέγγιση.</a:t>
            </a:r>
            <a:endParaRPr lang="en-US" sz="1700" dirty="0"/>
          </a:p>
        </p:txBody>
      </p:sp>
      <p:sp>
        <p:nvSpPr>
          <p:cNvPr id="8" name="Text 6"/>
          <p:cNvSpPr/>
          <p:nvPr/>
        </p:nvSpPr>
        <p:spPr>
          <a:xfrm>
            <a:off x="1417320" y="5532120"/>
            <a:ext cx="9509760" cy="685800"/>
          </a:xfrm>
          <a:prstGeom prst="rect">
            <a:avLst/>
          </a:prstGeom>
          <a:noFill/>
        </p:spPr>
        <p:txBody>
          <a:bodyPr wrap="square" lIns="635" tIns="635" rIns="635" bIns="635" rtlCol="0" anchor="t">
            <a:normAutofit/>
          </a:bodyPr>
          <a:lstStyle/>
          <a:p>
            <a:pPr marL="0" indent="0">
              <a:buNone/>
            </a:pPr>
            <a:r>
              <a:rPr lang="en-US" sz="1450" dirty="0">
                <a:solidFill>
                  <a:srgbClr val="112033"/>
                </a:solidFill>
              </a:rPr>
              <a:t>• Δεν απαιτεί πρόβλεψη μελλοντικών RSI, MACD, volume κτλ.
</a:t>
            </a:r>
            <a:r>
              <a:rPr lang="en-US" sz="1450" dirty="0">
                <a:solidFill>
                  <a:srgbClr val="112033"/>
                </a:solidFill>
              </a:rPr>
              <a:t>• Δεν περνάει λάθος πρόβλεψη ως νέα είσοδος.
</a:t>
            </a:r>
            <a:r>
              <a:rPr lang="en-US" sz="1450" dirty="0">
                <a:solidFill>
                  <a:srgbClr val="112033"/>
                </a:solidFill>
              </a:rPr>
              <a:t>• Παράγει ημερήσιο forecast path μέχρι τον μέγιστο ορίζοντα.</a:t>
            </a:r>
            <a:endParaRPr lang="en-US" sz="1450" dirty="0"/>
          </a:p>
        </p:txBody>
      </p:sp>
      <p:sp>
        <p:nvSpPr>
          <p:cNvPr id="9" name="Text 7"/>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0" name="Text 8"/>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10. Evaluation: πότε μπορώ να μετρήσω σφάλμα;</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Τα MSE / RMSE / MAE υπάρχουν μόνο όταν γνωρίζουμε την πραγματική μελλοντική τιμή</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868680" y="1600200"/>
            <a:ext cx="4846320" cy="2606040"/>
          </a:xfrm>
          <a:prstGeom prst="rect">
            <a:avLst/>
          </a:prstGeom>
          <a:solidFill>
            <a:srgbClr val="ECFDF5"/>
          </a:solidFill>
          <a:ln w="12700">
            <a:solidFill>
              <a:srgbClr val="A7F3D0"/>
            </a:solidFill>
          </a:ln>
        </p:spPr>
        <p:txBody>
          <a:bodyPr wrap="square" lIns="1524" tIns="1524" rIns="1524" bIns="1524" rtlCol="0" anchor="ctr">
            <a:normAutofit/>
          </a:bodyPr>
          <a:lstStyle/>
          <a:p>
            <a:pPr marL="0" indent="0" algn="l">
              <a:buNone/>
            </a:pPr>
            <a:r>
              <a:rPr lang="en-US" sz="1400" b="1" dirty="0">
                <a:solidFill>
                  <a:srgbClr val="112033"/>
                </a:solidFill>
              </a:rPr>
              <a:t>Historical Backtest</a:t>
            </a:r>
            <a:endParaRPr lang="en-US" sz="1400" dirty="0"/>
          </a:p>
          <a:p>
            <a:pPr marL="0" indent="0" algn="l">
              <a:buNone/>
            </a:pPr>
            <a:endParaRPr lang="en-US" sz="1400" dirty="0"/>
          </a:p>
          <a:p>
            <a:pPr marL="0" indent="0" algn="l">
              <a:buNone/>
            </a:pPr>
            <a:r>
              <a:rPr lang="en-US" sz="1400" b="1" dirty="0">
                <a:solidFill>
                  <a:srgbClr val="112033"/>
                </a:solidFill>
              </a:rPr>
              <a:t>Ξεκινώ πρόβλεψη από παλιά ημερομηνία.</a:t>
            </a:r>
            <a:endParaRPr lang="en-US" sz="1400" dirty="0"/>
          </a:p>
          <a:p>
            <a:pPr marL="0" indent="0" algn="l">
              <a:buNone/>
            </a:pPr>
            <a:r>
              <a:rPr lang="en-US" sz="1400" b="1" dirty="0">
                <a:solidFill>
                  <a:srgbClr val="112033"/>
                </a:solidFill>
              </a:rPr>
              <a:t>Οι πραγματικές μελλοντικές τιμές υπάρχουν ήδη.</a:t>
            </a:r>
            <a:endParaRPr lang="en-US" sz="1400" dirty="0"/>
          </a:p>
          <a:p>
            <a:pPr marL="0" indent="0" algn="l">
              <a:buNone/>
            </a:pPr>
            <a:endParaRPr lang="en-US" sz="1400" dirty="0"/>
          </a:p>
          <a:p>
            <a:pPr marL="0" indent="0" algn="l">
              <a:buNone/>
            </a:pPr>
            <a:r>
              <a:rPr lang="en-US" sz="1400" b="1" dirty="0">
                <a:solidFill>
                  <a:srgbClr val="112033"/>
                </a:solidFill>
              </a:rPr>
              <a:t>Μπορώ να υπολογίσω MAE, RMSE, DA.</a:t>
            </a:r>
            <a:endParaRPr lang="en-US" sz="1400" dirty="0"/>
          </a:p>
        </p:txBody>
      </p:sp>
      <p:sp>
        <p:nvSpPr>
          <p:cNvPr id="6" name="Text 4"/>
          <p:cNvSpPr/>
          <p:nvPr/>
        </p:nvSpPr>
        <p:spPr>
          <a:xfrm>
            <a:off x="6492240" y="1600200"/>
            <a:ext cx="4846320" cy="2606040"/>
          </a:xfrm>
          <a:prstGeom prst="rect">
            <a:avLst/>
          </a:prstGeom>
          <a:solidFill>
            <a:srgbClr val="FEF3C7"/>
          </a:solidFill>
          <a:ln w="12700">
            <a:solidFill>
              <a:srgbClr val="FDE68A"/>
            </a:solidFill>
          </a:ln>
        </p:spPr>
        <p:txBody>
          <a:bodyPr wrap="square" lIns="1524" tIns="1524" rIns="1524" bIns="1524" rtlCol="0" anchor="ctr">
            <a:normAutofit/>
          </a:bodyPr>
          <a:lstStyle/>
          <a:p>
            <a:pPr marL="0" indent="0" algn="l">
              <a:buNone/>
            </a:pPr>
            <a:r>
              <a:rPr lang="en-US" sz="1400" b="1" dirty="0">
                <a:solidFill>
                  <a:srgbClr val="112033"/>
                </a:solidFill>
              </a:rPr>
              <a:t>Real Future Prediction</a:t>
            </a:r>
            <a:endParaRPr lang="en-US" sz="1400" dirty="0"/>
          </a:p>
          <a:p>
            <a:pPr marL="0" indent="0" algn="l">
              <a:buNone/>
            </a:pPr>
            <a:endParaRPr lang="en-US" sz="1400" dirty="0"/>
          </a:p>
          <a:p>
            <a:pPr marL="0" indent="0" algn="l">
              <a:buNone/>
            </a:pPr>
            <a:r>
              <a:rPr lang="en-US" sz="1400" b="1" dirty="0">
                <a:solidFill>
                  <a:srgbClr val="112033"/>
                </a:solidFill>
              </a:rPr>
              <a:t>Ξεκινώ πρόβλεψη από σήμερα.</a:t>
            </a:r>
            <a:endParaRPr lang="en-US" sz="1400" dirty="0"/>
          </a:p>
          <a:p>
            <a:pPr marL="0" indent="0" algn="l">
              <a:buNone/>
            </a:pPr>
            <a:r>
              <a:rPr lang="en-US" sz="1400" b="1" dirty="0">
                <a:solidFill>
                  <a:srgbClr val="112033"/>
                </a:solidFill>
              </a:rPr>
              <a:t>Οι πραγματικές μελλοντικές τιμές δεν υπάρχουν ακόμη.</a:t>
            </a:r>
            <a:endParaRPr lang="en-US" sz="1400" dirty="0"/>
          </a:p>
          <a:p>
            <a:pPr marL="0" indent="0" algn="l">
              <a:buNone/>
            </a:pPr>
            <a:endParaRPr lang="en-US" sz="1400" dirty="0"/>
          </a:p>
          <a:p>
            <a:pPr marL="0" indent="0" algn="l">
              <a:buNone/>
            </a:pPr>
            <a:r>
              <a:rPr lang="en-US" sz="1400" b="1" dirty="0">
                <a:solidFill>
                  <a:srgbClr val="112033"/>
                </a:solidFill>
              </a:rPr>
              <a:t>Δεν υπάρχει πραγματικό σφάλμα να μετρηθεί.</a:t>
            </a:r>
            <a:endParaRPr lang="en-US" sz="1400" dirty="0"/>
          </a:p>
        </p:txBody>
      </p:sp>
      <p:sp>
        <p:nvSpPr>
          <p:cNvPr id="7" name="Text 5"/>
          <p:cNvSpPr/>
          <p:nvPr/>
        </p:nvSpPr>
        <p:spPr>
          <a:xfrm>
            <a:off x="1234440" y="4892040"/>
            <a:ext cx="4480560" cy="594360"/>
          </a:xfrm>
          <a:prstGeom prst="rect">
            <a:avLst/>
          </a:prstGeom>
          <a:solidFill>
            <a:srgbClr val="FFFFFF"/>
          </a:solidFill>
          <a:ln w="19050">
            <a:solidFill>
              <a:srgbClr val="008C95"/>
            </a:solidFill>
          </a:ln>
        </p:spPr>
        <p:txBody>
          <a:bodyPr wrap="square" lIns="1016" tIns="1016" rIns="1016" bIns="1016" rtlCol="0" anchor="ctr">
            <a:normAutofit/>
          </a:bodyPr>
          <a:lstStyle/>
          <a:p>
            <a:pPr marL="0" indent="0" algn="ctr">
              <a:buNone/>
            </a:pPr>
            <a:r>
              <a:rPr lang="en-US" sz="1800" b="1" dirty="0">
                <a:solidFill>
                  <a:srgbClr val="112033"/>
                </a:solidFill>
              </a:rPr>
              <a:t>MAEₖ = (1/N) Σ |yₜ,ₖ − ŷₜ,ₖ|</a:t>
            </a:r>
            <a:endParaRPr lang="en-US" sz="1800" dirty="0"/>
          </a:p>
        </p:txBody>
      </p:sp>
      <p:sp>
        <p:nvSpPr>
          <p:cNvPr id="8" name="Text 6"/>
          <p:cNvSpPr/>
          <p:nvPr/>
        </p:nvSpPr>
        <p:spPr>
          <a:xfrm>
            <a:off x="6492240" y="4892040"/>
            <a:ext cx="4480560" cy="594360"/>
          </a:xfrm>
          <a:prstGeom prst="rect">
            <a:avLst/>
          </a:prstGeom>
          <a:solidFill>
            <a:srgbClr val="FFFFFF"/>
          </a:solidFill>
          <a:ln w="19050">
            <a:solidFill>
              <a:srgbClr val="6D5DFB"/>
            </a:solidFill>
          </a:ln>
        </p:spPr>
        <p:txBody>
          <a:bodyPr wrap="square" lIns="1016" tIns="1016" rIns="1016" bIns="1016" rtlCol="0" anchor="ctr">
            <a:normAutofit/>
          </a:bodyPr>
          <a:lstStyle/>
          <a:p>
            <a:pPr marL="0" indent="0" algn="ctr">
              <a:buNone/>
            </a:pPr>
            <a:r>
              <a:rPr lang="en-US" sz="1800" b="1" dirty="0">
                <a:solidFill>
                  <a:srgbClr val="112033"/>
                </a:solidFill>
              </a:rPr>
              <a:t>DAₖ = mean[ sign(yₜ,ₖ) = sign(ŷₜ,ₖ) ]</a:t>
            </a:r>
            <a:endParaRPr lang="en-US" sz="1800" dirty="0"/>
          </a:p>
        </p:txBody>
      </p:sp>
      <p:sp>
        <p:nvSpPr>
          <p:cNvPr id="9" name="Text 7"/>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0" name="Text 8"/>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11. Τι ακριβώς δείχνει το plot</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Η πραγματική τιμή μέχρι το origin date και μετά η προβλεπόμενη ημερήσια καμπύλη</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822960" y="1508760"/>
            <a:ext cx="10561320" cy="3840480"/>
          </a:xfrm>
          <a:prstGeom prst="rect">
            <a:avLst/>
          </a:prstGeom>
          <a:solidFill>
            <a:srgbClr val="FFFFFF"/>
          </a:solidFill>
          <a:ln w="12700">
            <a:solidFill>
              <a:srgbClr val="CBD5E1"/>
            </a:solidFill>
          </a:ln>
        </p:spPr>
        <p:txBody>
          <a:bodyPr wrap="square" lIns="1016" tIns="1016" rIns="1016" bIns="1016" rtlCol="0" anchor="ctr">
            <a:normAutofit/>
          </a:bodyPr>
          <a:lstStyle/>
          <a:p>
            <a:pPr marL="0" indent="0" algn="ctr">
              <a:buNone/>
            </a:pPr>
            <a:endParaRPr lang="en-US" sz="100" dirty="0"/>
          </a:p>
        </p:txBody>
      </p:sp>
      <p:sp>
        <p:nvSpPr>
          <p:cNvPr id="6" name="Shape 4"/>
          <p:cNvSpPr/>
          <p:nvPr/>
        </p:nvSpPr>
        <p:spPr>
          <a:xfrm>
            <a:off x="1280160" y="4892040"/>
            <a:ext cx="9464040" cy="0"/>
          </a:xfrm>
          <a:prstGeom prst="line">
            <a:avLst/>
          </a:prstGeom>
          <a:noFill/>
          <a:ln w="15240">
            <a:solidFill>
              <a:srgbClr val="94A3B8"/>
            </a:solidFill>
            <a:prstDash val="solid"/>
          </a:ln>
        </p:spPr>
      </p:sp>
      <p:sp>
        <p:nvSpPr>
          <p:cNvPr id="7" name="Shape 5"/>
          <p:cNvSpPr/>
          <p:nvPr/>
        </p:nvSpPr>
        <p:spPr>
          <a:xfrm>
            <a:off x="1280160" y="1828800"/>
            <a:ext cx="0" cy="3063240"/>
          </a:xfrm>
          <a:prstGeom prst="line">
            <a:avLst/>
          </a:prstGeom>
          <a:noFill/>
          <a:ln w="15240">
            <a:solidFill>
              <a:srgbClr val="94A3B8"/>
            </a:solidFill>
            <a:prstDash val="solid"/>
          </a:ln>
        </p:spPr>
      </p:sp>
      <p:sp>
        <p:nvSpPr>
          <p:cNvPr id="8" name="Shape 6"/>
          <p:cNvSpPr/>
          <p:nvPr/>
        </p:nvSpPr>
        <p:spPr>
          <a:xfrm>
            <a:off x="1417320" y="3794760"/>
            <a:ext cx="1188720" cy="365760"/>
          </a:xfrm>
          <a:prstGeom prst="line">
            <a:avLst/>
          </a:prstGeom>
          <a:noFill/>
          <a:ln w="27940">
            <a:solidFill>
              <a:srgbClr val="112033"/>
            </a:solidFill>
            <a:prstDash val="solid"/>
          </a:ln>
        </p:spPr>
      </p:sp>
      <p:sp>
        <p:nvSpPr>
          <p:cNvPr id="9" name="Shape 7"/>
          <p:cNvSpPr/>
          <p:nvPr/>
        </p:nvSpPr>
        <p:spPr>
          <a:xfrm>
            <a:off x="2606040" y="3474720"/>
            <a:ext cx="1005840" cy="320040"/>
          </a:xfrm>
          <a:prstGeom prst="line">
            <a:avLst/>
          </a:prstGeom>
          <a:noFill/>
          <a:ln w="27940">
            <a:solidFill>
              <a:srgbClr val="112033"/>
            </a:solidFill>
            <a:prstDash val="solid"/>
          </a:ln>
        </p:spPr>
      </p:sp>
      <p:sp>
        <p:nvSpPr>
          <p:cNvPr id="10" name="Shape 8"/>
          <p:cNvSpPr/>
          <p:nvPr/>
        </p:nvSpPr>
        <p:spPr>
          <a:xfrm>
            <a:off x="3611880" y="3474720"/>
            <a:ext cx="1005840" cy="182880"/>
          </a:xfrm>
          <a:prstGeom prst="line">
            <a:avLst/>
          </a:prstGeom>
          <a:noFill/>
          <a:ln w="27940">
            <a:solidFill>
              <a:srgbClr val="112033"/>
            </a:solidFill>
            <a:prstDash val="solid"/>
          </a:ln>
        </p:spPr>
      </p:sp>
      <p:sp>
        <p:nvSpPr>
          <p:cNvPr id="11" name="Shape 9"/>
          <p:cNvSpPr/>
          <p:nvPr/>
        </p:nvSpPr>
        <p:spPr>
          <a:xfrm>
            <a:off x="4617720" y="3063240"/>
            <a:ext cx="777240" cy="594360"/>
          </a:xfrm>
          <a:prstGeom prst="line">
            <a:avLst/>
          </a:prstGeom>
          <a:noFill/>
          <a:ln w="27940">
            <a:solidFill>
              <a:srgbClr val="112033"/>
            </a:solidFill>
            <a:prstDash val="solid"/>
          </a:ln>
        </p:spPr>
      </p:sp>
      <p:sp>
        <p:nvSpPr>
          <p:cNvPr id="12" name="Shape 10"/>
          <p:cNvSpPr/>
          <p:nvPr/>
        </p:nvSpPr>
        <p:spPr>
          <a:xfrm>
            <a:off x="5532120" y="1828800"/>
            <a:ext cx="0" cy="3063240"/>
          </a:xfrm>
          <a:prstGeom prst="line">
            <a:avLst/>
          </a:prstGeom>
          <a:noFill/>
          <a:ln w="22860">
            <a:solidFill>
              <a:srgbClr val="EF4444"/>
            </a:solidFill>
            <a:prstDash val="solid"/>
          </a:ln>
        </p:spPr>
      </p:sp>
      <p:sp>
        <p:nvSpPr>
          <p:cNvPr id="13" name="Text 11"/>
          <p:cNvSpPr/>
          <p:nvPr/>
        </p:nvSpPr>
        <p:spPr>
          <a:xfrm>
            <a:off x="5074920" y="5074920"/>
            <a:ext cx="1280160" cy="228600"/>
          </a:xfrm>
          <a:prstGeom prst="rect">
            <a:avLst/>
          </a:prstGeom>
          <a:noFill/>
        </p:spPr>
        <p:txBody>
          <a:bodyPr wrap="square" lIns="0" tIns="0" rIns="0" bIns="0" rtlCol="0" anchor="ctr"/>
          <a:lstStyle/>
          <a:p>
            <a:pPr marL="0" indent="0" algn="ctr">
              <a:buNone/>
            </a:pPr>
            <a:r>
              <a:rPr lang="en-US" sz="950" dirty="0">
                <a:solidFill>
                  <a:srgbClr val="EF4444"/>
                </a:solidFill>
              </a:rPr>
              <a:t>origin / train-end</a:t>
            </a:r>
            <a:endParaRPr lang="en-US" sz="950" dirty="0"/>
          </a:p>
        </p:txBody>
      </p:sp>
      <p:sp>
        <p:nvSpPr>
          <p:cNvPr id="14" name="Shape 12"/>
          <p:cNvSpPr/>
          <p:nvPr/>
        </p:nvSpPr>
        <p:spPr>
          <a:xfrm>
            <a:off x="5532120" y="3063240"/>
            <a:ext cx="1234440" cy="45720"/>
          </a:xfrm>
          <a:prstGeom prst="line">
            <a:avLst/>
          </a:prstGeom>
          <a:noFill/>
          <a:ln w="29210">
            <a:solidFill>
              <a:srgbClr val="008C95"/>
            </a:solidFill>
            <a:prstDash val="solid"/>
          </a:ln>
        </p:spPr>
      </p:sp>
      <p:sp>
        <p:nvSpPr>
          <p:cNvPr id="15" name="Shape 13"/>
          <p:cNvSpPr/>
          <p:nvPr/>
        </p:nvSpPr>
        <p:spPr>
          <a:xfrm>
            <a:off x="6766560" y="2880360"/>
            <a:ext cx="1143000" cy="228600"/>
          </a:xfrm>
          <a:prstGeom prst="line">
            <a:avLst/>
          </a:prstGeom>
          <a:noFill/>
          <a:ln w="29210">
            <a:solidFill>
              <a:srgbClr val="008C95"/>
            </a:solidFill>
            <a:prstDash val="solid"/>
          </a:ln>
        </p:spPr>
      </p:sp>
      <p:sp>
        <p:nvSpPr>
          <p:cNvPr id="16" name="Shape 14"/>
          <p:cNvSpPr/>
          <p:nvPr/>
        </p:nvSpPr>
        <p:spPr>
          <a:xfrm>
            <a:off x="7909560" y="2651760"/>
            <a:ext cx="1143000" cy="228600"/>
          </a:xfrm>
          <a:prstGeom prst="line">
            <a:avLst/>
          </a:prstGeom>
          <a:noFill/>
          <a:ln w="29210">
            <a:solidFill>
              <a:srgbClr val="008C95"/>
            </a:solidFill>
            <a:prstDash val="solid"/>
          </a:ln>
        </p:spPr>
      </p:sp>
      <p:sp>
        <p:nvSpPr>
          <p:cNvPr id="17" name="Shape 15"/>
          <p:cNvSpPr/>
          <p:nvPr/>
        </p:nvSpPr>
        <p:spPr>
          <a:xfrm>
            <a:off x="9052560" y="2514600"/>
            <a:ext cx="1188720" cy="137160"/>
          </a:xfrm>
          <a:prstGeom prst="line">
            <a:avLst/>
          </a:prstGeom>
          <a:noFill/>
          <a:ln w="29210">
            <a:solidFill>
              <a:srgbClr val="008C95"/>
            </a:solidFill>
            <a:prstDash val="solid"/>
          </a:ln>
        </p:spPr>
      </p:sp>
      <p:sp>
        <p:nvSpPr>
          <p:cNvPr id="18" name="Text 16"/>
          <p:cNvSpPr/>
          <p:nvPr/>
        </p:nvSpPr>
        <p:spPr>
          <a:xfrm>
            <a:off x="5303520" y="2770632"/>
            <a:ext cx="475488" cy="201168"/>
          </a:xfrm>
          <a:prstGeom prst="rect">
            <a:avLst/>
          </a:prstGeom>
          <a:solidFill>
            <a:srgbClr val="FFFFFF">
              <a:alpha val="95000"/>
            </a:srgbClr>
          </a:solidFill>
          <a:ln w="6350">
            <a:solidFill>
              <a:srgbClr val="FDBA74"/>
            </a:solidFill>
          </a:ln>
        </p:spPr>
        <p:txBody>
          <a:bodyPr wrap="square" lIns="0" tIns="0" rIns="0" bIns="0" rtlCol="0" anchor="ctr"/>
          <a:lstStyle/>
          <a:p>
            <a:pPr marL="0" indent="0" algn="ctr">
              <a:buNone/>
            </a:pPr>
            <a:r>
              <a:rPr lang="en-US" sz="950" b="1" dirty="0">
                <a:solidFill>
                  <a:srgbClr val="F59E0B"/>
                </a:solidFill>
              </a:rPr>
              <a:t>1d</a:t>
            </a:r>
            <a:endParaRPr lang="en-US" sz="950" dirty="0"/>
          </a:p>
        </p:txBody>
      </p:sp>
      <p:sp>
        <p:nvSpPr>
          <p:cNvPr id="19" name="Text 17"/>
          <p:cNvSpPr/>
          <p:nvPr/>
        </p:nvSpPr>
        <p:spPr>
          <a:xfrm>
            <a:off x="6190488" y="2743200"/>
            <a:ext cx="475488" cy="201168"/>
          </a:xfrm>
          <a:prstGeom prst="rect">
            <a:avLst/>
          </a:prstGeom>
          <a:solidFill>
            <a:srgbClr val="FFFFFF">
              <a:alpha val="95000"/>
            </a:srgbClr>
          </a:solidFill>
          <a:ln w="6350">
            <a:solidFill>
              <a:srgbClr val="FDBA74"/>
            </a:solidFill>
          </a:ln>
        </p:spPr>
        <p:txBody>
          <a:bodyPr wrap="square" lIns="0" tIns="0" rIns="0" bIns="0" rtlCol="0" anchor="ctr"/>
          <a:lstStyle/>
          <a:p>
            <a:pPr marL="0" indent="0" algn="ctr">
              <a:buNone/>
            </a:pPr>
            <a:r>
              <a:rPr lang="en-US" sz="950" b="1" dirty="0">
                <a:solidFill>
                  <a:srgbClr val="F59E0B"/>
                </a:solidFill>
              </a:rPr>
              <a:t>1m</a:t>
            </a:r>
            <a:endParaRPr lang="en-US" sz="950" dirty="0"/>
          </a:p>
        </p:txBody>
      </p:sp>
      <p:sp>
        <p:nvSpPr>
          <p:cNvPr id="20" name="Text 18"/>
          <p:cNvSpPr/>
          <p:nvPr/>
        </p:nvSpPr>
        <p:spPr>
          <a:xfrm>
            <a:off x="7863840" y="2514600"/>
            <a:ext cx="475488" cy="201168"/>
          </a:xfrm>
          <a:prstGeom prst="rect">
            <a:avLst/>
          </a:prstGeom>
          <a:solidFill>
            <a:srgbClr val="FFFFFF">
              <a:alpha val="95000"/>
            </a:srgbClr>
          </a:solidFill>
          <a:ln w="6350">
            <a:solidFill>
              <a:srgbClr val="FDBA74"/>
            </a:solidFill>
          </a:ln>
        </p:spPr>
        <p:txBody>
          <a:bodyPr wrap="square" lIns="0" tIns="0" rIns="0" bIns="0" rtlCol="0" anchor="ctr"/>
          <a:lstStyle/>
          <a:p>
            <a:pPr marL="0" indent="0" algn="ctr">
              <a:buNone/>
            </a:pPr>
            <a:r>
              <a:rPr lang="en-US" sz="950" b="1" dirty="0">
                <a:solidFill>
                  <a:srgbClr val="F59E0B"/>
                </a:solidFill>
              </a:rPr>
              <a:t>1y</a:t>
            </a:r>
            <a:endParaRPr lang="en-US" sz="950" dirty="0"/>
          </a:p>
        </p:txBody>
      </p:sp>
      <p:sp>
        <p:nvSpPr>
          <p:cNvPr id="21" name="Text 19"/>
          <p:cNvSpPr/>
          <p:nvPr/>
        </p:nvSpPr>
        <p:spPr>
          <a:xfrm>
            <a:off x="10012680" y="2194560"/>
            <a:ext cx="475488" cy="201168"/>
          </a:xfrm>
          <a:prstGeom prst="rect">
            <a:avLst/>
          </a:prstGeom>
          <a:solidFill>
            <a:srgbClr val="FFFFFF">
              <a:alpha val="95000"/>
            </a:srgbClr>
          </a:solidFill>
          <a:ln w="6350">
            <a:solidFill>
              <a:srgbClr val="FDBA74"/>
            </a:solidFill>
          </a:ln>
        </p:spPr>
        <p:txBody>
          <a:bodyPr wrap="square" lIns="0" tIns="0" rIns="0" bIns="0" rtlCol="0" anchor="ctr"/>
          <a:lstStyle/>
          <a:p>
            <a:pPr marL="0" indent="0" algn="ctr">
              <a:buNone/>
            </a:pPr>
            <a:r>
              <a:rPr lang="en-US" sz="950" b="1" dirty="0">
                <a:solidFill>
                  <a:srgbClr val="F59E0B"/>
                </a:solidFill>
              </a:rPr>
              <a:t>5y</a:t>
            </a:r>
            <a:endParaRPr lang="en-US" sz="950" dirty="0"/>
          </a:p>
        </p:txBody>
      </p:sp>
      <p:sp>
        <p:nvSpPr>
          <p:cNvPr id="22" name="Text 20"/>
          <p:cNvSpPr/>
          <p:nvPr/>
        </p:nvSpPr>
        <p:spPr>
          <a:xfrm>
            <a:off x="1508760" y="2011680"/>
            <a:ext cx="2011680" cy="228600"/>
          </a:xfrm>
          <a:prstGeom prst="rect">
            <a:avLst/>
          </a:prstGeom>
          <a:noFill/>
        </p:spPr>
        <p:txBody>
          <a:bodyPr wrap="square" lIns="0" tIns="0" rIns="0" bIns="0" rtlCol="0" anchor="ctr"/>
          <a:lstStyle/>
          <a:p>
            <a:pPr marL="0" indent="0">
              <a:buNone/>
            </a:pPr>
            <a:r>
              <a:rPr lang="en-US" sz="1050" b="1" dirty="0">
                <a:solidFill>
                  <a:srgbClr val="112033"/>
                </a:solidFill>
              </a:rPr>
              <a:t>Actual stock price</a:t>
            </a:r>
            <a:endParaRPr lang="en-US" sz="1050" dirty="0"/>
          </a:p>
        </p:txBody>
      </p:sp>
      <p:sp>
        <p:nvSpPr>
          <p:cNvPr id="23" name="Text 21"/>
          <p:cNvSpPr/>
          <p:nvPr/>
        </p:nvSpPr>
        <p:spPr>
          <a:xfrm>
            <a:off x="7315200" y="2057400"/>
            <a:ext cx="2194560" cy="228600"/>
          </a:xfrm>
          <a:prstGeom prst="rect">
            <a:avLst/>
          </a:prstGeom>
          <a:noFill/>
        </p:spPr>
        <p:txBody>
          <a:bodyPr wrap="square" lIns="0" tIns="0" rIns="0" bIns="0" rtlCol="0" anchor="ctr"/>
          <a:lstStyle/>
          <a:p>
            <a:pPr marL="0" indent="0">
              <a:buNone/>
            </a:pPr>
            <a:r>
              <a:rPr lang="en-US" sz="1050" b="1" dirty="0">
                <a:solidFill>
                  <a:srgbClr val="008C95"/>
                </a:solidFill>
              </a:rPr>
              <a:t>Predicted future path</a:t>
            </a:r>
            <a:endParaRPr lang="en-US" sz="1050" dirty="0"/>
          </a:p>
        </p:txBody>
      </p:sp>
      <p:sp>
        <p:nvSpPr>
          <p:cNvPr id="24" name="Text 22"/>
          <p:cNvSpPr/>
          <p:nvPr/>
        </p:nvSpPr>
        <p:spPr>
          <a:xfrm>
            <a:off x="1005840" y="5623560"/>
            <a:ext cx="10515600" cy="777240"/>
          </a:xfrm>
          <a:prstGeom prst="rect">
            <a:avLst/>
          </a:prstGeom>
          <a:noFill/>
        </p:spPr>
        <p:txBody>
          <a:bodyPr wrap="square" lIns="635" tIns="635" rIns="635" bIns="635" rtlCol="0" anchor="t">
            <a:normAutofit/>
          </a:bodyPr>
          <a:lstStyle/>
          <a:p>
            <a:pPr marL="0" indent="0">
              <a:buNone/>
            </a:pPr>
            <a:r>
              <a:rPr lang="en-US" sz="1430" dirty="0">
                <a:solidFill>
                  <a:srgbClr val="112033"/>
                </a:solidFill>
              </a:rPr>
              <a:t>• Η μαύρη γραμμή είναι πραγματικά ιστορικά δεδομένα.
</a:t>
            </a:r>
            <a:r>
              <a:rPr lang="en-US" sz="1430" dirty="0">
                <a:solidFill>
                  <a:srgbClr val="112033"/>
                </a:solidFill>
              </a:rPr>
              <a:t>• Η διακεκομμένη γραμμή είναι η πρόβλεψη του μοντέλου.
</a:t>
            </a:r>
            <a:r>
              <a:rPr lang="en-US" sz="1430" dirty="0">
                <a:solidFill>
                  <a:srgbClr val="112033"/>
                </a:solidFill>
              </a:rPr>
              <a:t>• Τα σημεία 1d, 1m, 1y, 5y είναι ορόσημα πάνω στην ίδια ημερήσια καμπύλη.</a:t>
            </a:r>
            <a:endParaRPr lang="en-US" sz="1430" dirty="0"/>
          </a:p>
        </p:txBody>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26" name="Text 24"/>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12. Τι αποθηκεύει το project μετά την εκπαίδευση</a:t>
            </a:r>
            <a:endParaRPr lang="en-US" sz="2600" dirty="0"/>
          </a:p>
        </p:txBody>
      </p:sp>
      <p:sp>
        <p:nvSpPr>
          <p:cNvPr id="3" name="Text 1"/>
          <p:cNvSpPr/>
          <p:nvPr/>
        </p:nvSpPr>
        <p:spPr>
          <a:xfrm>
            <a:off x="530352" y="822960"/>
            <a:ext cx="9784080" cy="256032"/>
          </a:xfrm>
          <a:prstGeom prst="rect">
            <a:avLst/>
          </a:prstGeom>
          <a:noFill/>
        </p:spPr>
        <p:txBody>
          <a:bodyPr wrap="square" lIns="0" tIns="0" rIns="0" bIns="0" rtlCol="0" anchor="ctr">
            <a:normAutofit/>
          </a:bodyPr>
          <a:lstStyle/>
          <a:p>
            <a:pPr marL="0" indent="0">
              <a:buNone/>
            </a:pPr>
            <a:r>
              <a:rPr lang="en-US" sz="1280" dirty="0">
                <a:solidFill>
                  <a:srgbClr val="52616B"/>
                </a:solidFill>
              </a:rPr>
              <a:t>Το μοντέλο γίνεται επαναχρησιμοποιήσιμο χωρίς να χρειάζεται retraining στο GUI</a:t>
            </a:r>
            <a:endParaRPr lang="en-US" sz="1280" dirty="0"/>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5" name="Text 3"/>
          <p:cNvSpPr/>
          <p:nvPr/>
        </p:nvSpPr>
        <p:spPr>
          <a:xfrm>
            <a:off x="777240" y="1600200"/>
            <a:ext cx="3108960" cy="1280160"/>
          </a:xfrm>
          <a:prstGeom prst="rect">
            <a:avLst/>
          </a:prstGeom>
          <a:solidFill>
            <a:srgbClr val="E0F2FE"/>
          </a:solidFill>
          <a:ln w="12700">
            <a:solidFill>
              <a:srgbClr val="BAE6FD"/>
            </a:solidFill>
          </a:ln>
        </p:spPr>
        <p:txBody>
          <a:bodyPr wrap="square" lIns="1016" tIns="1016" rIns="1016" bIns="1016" rtlCol="0" anchor="ctr">
            <a:normAutofit/>
          </a:bodyPr>
          <a:lstStyle/>
          <a:p>
            <a:pPr marL="0" indent="0" algn="ctr">
              <a:buNone/>
            </a:pPr>
            <a:r>
              <a:rPr lang="en-US" sz="1500" b="1" dirty="0">
                <a:solidFill>
                  <a:srgbClr val="112033"/>
                </a:solidFill>
              </a:rPr>
              <a:t>saved_models/</a:t>
            </a:r>
            <a:endParaRPr lang="en-US" sz="1500" dirty="0"/>
          </a:p>
          <a:p>
            <a:pPr marL="0" indent="0" algn="ctr">
              <a:buNone/>
            </a:pPr>
            <a:r>
              <a:rPr lang="en-US" sz="1500" b="1" dirty="0">
                <a:solidFill>
                  <a:srgbClr val="112033"/>
                </a:solidFill>
              </a:rPr>
              <a:t>&lt;TICKER&gt;_best_model.pth</a:t>
            </a:r>
            <a:endParaRPr lang="en-US" sz="1500" dirty="0"/>
          </a:p>
        </p:txBody>
      </p:sp>
      <p:sp>
        <p:nvSpPr>
          <p:cNvPr id="6" name="Text 4"/>
          <p:cNvSpPr/>
          <p:nvPr/>
        </p:nvSpPr>
        <p:spPr>
          <a:xfrm>
            <a:off x="4526280" y="1600200"/>
            <a:ext cx="3108960" cy="1280160"/>
          </a:xfrm>
          <a:prstGeom prst="rect">
            <a:avLst/>
          </a:prstGeom>
          <a:solidFill>
            <a:srgbClr val="ECFDF5"/>
          </a:solidFill>
          <a:ln w="12700">
            <a:solidFill>
              <a:srgbClr val="A7F3D0"/>
            </a:solidFill>
          </a:ln>
        </p:spPr>
        <p:txBody>
          <a:bodyPr wrap="square" lIns="1016" tIns="1016" rIns="1016" bIns="1016" rtlCol="0" anchor="ctr">
            <a:normAutofit/>
          </a:bodyPr>
          <a:lstStyle/>
          <a:p>
            <a:pPr marL="0" indent="0" algn="ctr">
              <a:buNone/>
            </a:pPr>
            <a:r>
              <a:rPr lang="en-US" sz="1500" b="1" dirty="0">
                <a:solidFill>
                  <a:srgbClr val="112033"/>
                </a:solidFill>
              </a:rPr>
              <a:t>outputs/&lt;TICKER&gt;/plots/</a:t>
            </a:r>
            <a:endParaRPr lang="en-US" sz="1500" dirty="0"/>
          </a:p>
          <a:p>
            <a:pPr marL="0" indent="0" algn="ctr">
              <a:buNone/>
            </a:pPr>
            <a:r>
              <a:rPr lang="en-US" sz="1500" b="1" dirty="0">
                <a:solidFill>
                  <a:srgbClr val="112033"/>
                </a:solidFill>
              </a:rPr>
              <a:t>forecast path images</a:t>
            </a:r>
            <a:endParaRPr lang="en-US" sz="1500" dirty="0"/>
          </a:p>
        </p:txBody>
      </p:sp>
      <p:sp>
        <p:nvSpPr>
          <p:cNvPr id="7" name="Text 5"/>
          <p:cNvSpPr/>
          <p:nvPr/>
        </p:nvSpPr>
        <p:spPr>
          <a:xfrm>
            <a:off x="8275320" y="1600200"/>
            <a:ext cx="3108960" cy="1280160"/>
          </a:xfrm>
          <a:prstGeom prst="rect">
            <a:avLst/>
          </a:prstGeom>
          <a:solidFill>
            <a:srgbClr val="FEF3C7"/>
          </a:solidFill>
          <a:ln w="12700">
            <a:solidFill>
              <a:srgbClr val="FDE68A"/>
            </a:solidFill>
          </a:ln>
        </p:spPr>
        <p:txBody>
          <a:bodyPr wrap="square" lIns="1016" tIns="1016" rIns="1016" bIns="1016" rtlCol="0" anchor="ctr">
            <a:normAutofit/>
          </a:bodyPr>
          <a:lstStyle/>
          <a:p>
            <a:pPr marL="0" indent="0" algn="ctr">
              <a:buNone/>
            </a:pPr>
            <a:r>
              <a:rPr lang="en-US" sz="1500" b="1" dirty="0">
                <a:solidFill>
                  <a:srgbClr val="112033"/>
                </a:solidFill>
              </a:rPr>
              <a:t>outputs/&lt;TICKER&gt;/metrics.json</a:t>
            </a:r>
            <a:endParaRPr lang="en-US" sz="1500" dirty="0"/>
          </a:p>
          <a:p>
            <a:pPr marL="0" indent="0" algn="ctr">
              <a:buNone/>
            </a:pPr>
            <a:r>
              <a:rPr lang="en-US" sz="1500" b="1" dirty="0">
                <a:solidFill>
                  <a:srgbClr val="112033"/>
                </a:solidFill>
              </a:rPr>
              <a:t>MAE, RMSE, DA, baselines</a:t>
            </a:r>
            <a:endParaRPr lang="en-US" sz="1500" dirty="0"/>
          </a:p>
        </p:txBody>
      </p:sp>
      <p:sp>
        <p:nvSpPr>
          <p:cNvPr id="8" name="Text 6"/>
          <p:cNvSpPr/>
          <p:nvPr/>
        </p:nvSpPr>
        <p:spPr>
          <a:xfrm>
            <a:off x="1143000" y="3794760"/>
            <a:ext cx="9875520" cy="658368"/>
          </a:xfrm>
          <a:prstGeom prst="rect">
            <a:avLst/>
          </a:prstGeom>
          <a:solidFill>
            <a:srgbClr val="F5F3FF"/>
          </a:solidFill>
          <a:ln w="12700">
            <a:solidFill>
              <a:srgbClr val="DDD6FE"/>
            </a:solidFill>
          </a:ln>
        </p:spPr>
        <p:txBody>
          <a:bodyPr wrap="square" lIns="1016" tIns="1016" rIns="1016" bIns="1016" rtlCol="0" anchor="ctr">
            <a:normAutofit/>
          </a:bodyPr>
          <a:lstStyle/>
          <a:p>
            <a:pPr marL="0" indent="0" algn="ctr">
              <a:buNone/>
            </a:pPr>
            <a:r>
              <a:rPr lang="en-US" sz="1520" b="1" dirty="0">
                <a:solidFill>
                  <a:srgbClr val="112033"/>
                </a:solidFill>
              </a:rPr>
              <a:t>Το saved model περιέχει: βάρη μοντέλου, scaler, feature names, horizons, seq length, training dates.</a:t>
            </a:r>
            <a:endParaRPr lang="en-US" sz="1520" dirty="0"/>
          </a:p>
        </p:txBody>
      </p:sp>
      <p:sp>
        <p:nvSpPr>
          <p:cNvPr id="9" name="Text 7"/>
          <p:cNvSpPr/>
          <p:nvPr/>
        </p:nvSpPr>
        <p:spPr>
          <a:xfrm>
            <a:off x="2011680" y="5138928"/>
            <a:ext cx="8138160" cy="566928"/>
          </a:xfrm>
          <a:prstGeom prst="rect">
            <a:avLst/>
          </a:prstGeom>
          <a:solidFill>
            <a:srgbClr val="FFE4E6"/>
          </a:solidFill>
          <a:ln w="12700">
            <a:solidFill>
              <a:srgbClr val="FDA4AF"/>
            </a:solidFill>
          </a:ln>
        </p:spPr>
        <p:txBody>
          <a:bodyPr wrap="square" lIns="1016" tIns="1016" rIns="1016" bIns="1016" rtlCol="0" anchor="ctr">
            <a:normAutofit/>
          </a:bodyPr>
          <a:lstStyle/>
          <a:p>
            <a:pPr marL="0" indent="0" algn="ctr">
              <a:buNone/>
            </a:pPr>
            <a:r>
              <a:rPr lang="en-US" sz="1550" b="1" dirty="0">
                <a:solidFill>
                  <a:srgbClr val="112033"/>
                </a:solidFill>
              </a:rPr>
              <a:t>Άρα το GUI μπορεί να κάνει prediction μόνο φορτώνοντας το αποθηκευμένο package.</a:t>
            </a:r>
            <a:endParaRPr lang="en-US" sz="1550" dirty="0"/>
          </a:p>
        </p:txBody>
      </p:sp>
      <p:sp>
        <p:nvSpPr>
          <p:cNvPr id="10" name="Text 8"/>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sp>
        <p:nvSpPr>
          <p:cNvPr id="11" name="Text 9"/>
          <p:cNvSpPr/>
          <p:nvPr/>
        </p:nvSpPr>
        <p:spPr>
          <a:xfrm>
            <a:off x="11292840" y="6519672"/>
            <a:ext cx="502920" cy="228600"/>
          </a:xfrm>
          <a:prstGeom prst="rect">
            <a:avLst/>
          </a:prstGeom>
          <a:noFill/>
        </p:spPr>
        <p:txBody>
          <a:bodyPr wrap="square" lIns="0" tIns="0" rIns="0" bIns="0" rtlCol="0" anchor="ctr"/>
          <a:lstStyle/>
          <a:p>
            <a:pPr marL="0" indent="0" algn="r">
              <a:buNone/>
            </a:pPr>
            <a:r>
              <a:rPr lang="en-US" sz="900" b="1" dirty="0">
                <a:solidFill>
                  <a:srgbClr val="7C8A9A"/>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Coca-Cola (KO)</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27" name="Picture 26" descr="KO_forecast_from_20210122_to_20251121_daily_path"/>
          <p:cNvPicPr>
            <a:picLocks noChangeAspect="1"/>
          </p:cNvPicPr>
          <p:nvPr/>
        </p:nvPicPr>
        <p:blipFill>
          <a:blip r:embed="rId1"/>
          <a:stretch>
            <a:fillRect/>
          </a:stretch>
        </p:blipFill>
        <p:spPr>
          <a:xfrm>
            <a:off x="502920" y="1346835"/>
            <a:ext cx="10419080" cy="49028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Sales Force (CRM)</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CRM_forecast_from_20210122_to_20251121_daily_path"/>
          <p:cNvPicPr>
            <a:picLocks noChangeAspect="1"/>
          </p:cNvPicPr>
          <p:nvPr/>
        </p:nvPicPr>
        <p:blipFill>
          <a:blip r:embed="rId1"/>
          <a:stretch>
            <a:fillRect/>
          </a:stretch>
        </p:blipFill>
        <p:spPr>
          <a:xfrm>
            <a:off x="411480" y="1186180"/>
            <a:ext cx="10858500" cy="51098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a:t>
            </a:r>
            <a:r>
              <a:rPr lang="en-US" altLang="en-US" sz="2600" b="1" dirty="0">
                <a:solidFill>
                  <a:srgbClr val="112033"/>
                </a:solidFill>
              </a:rPr>
              <a:t>GameStop Corp (GME)</a:t>
            </a:r>
            <a:endParaRPr lang="en-US" altLang="en-US"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GME_forecast_from_20210122_to_20251121_daily_path"/>
          <p:cNvPicPr>
            <a:picLocks noChangeAspect="1"/>
          </p:cNvPicPr>
          <p:nvPr/>
        </p:nvPicPr>
        <p:blipFill>
          <a:blip r:embed="rId1"/>
          <a:stretch>
            <a:fillRect/>
          </a:stretch>
        </p:blipFill>
        <p:spPr>
          <a:xfrm>
            <a:off x="502920" y="1196975"/>
            <a:ext cx="10927080" cy="51415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a:t>
            </a:r>
            <a:r>
              <a:rPr lang="en-US" altLang="en-US" sz="2600" b="1" dirty="0">
                <a:solidFill>
                  <a:srgbClr val="112033"/>
                </a:solidFill>
              </a:rPr>
              <a:t>Exxon Mobil Corp (XOM)</a:t>
            </a:r>
            <a:endParaRPr lang="en-US" altLang="en-US"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XOM_forecast_from_20200220_to_20241219_daily_path"/>
          <p:cNvPicPr>
            <a:picLocks noChangeAspect="1"/>
          </p:cNvPicPr>
          <p:nvPr/>
        </p:nvPicPr>
        <p:blipFill>
          <a:blip r:embed="rId1"/>
          <a:stretch>
            <a:fillRect/>
          </a:stretch>
        </p:blipFill>
        <p:spPr>
          <a:xfrm>
            <a:off x="502920" y="1276350"/>
            <a:ext cx="10917555" cy="51371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Apple (AAPL)</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AAPL_forecast_from_20200218_to_20241217_daily_path"/>
          <p:cNvPicPr>
            <a:picLocks noChangeAspect="1"/>
          </p:cNvPicPr>
          <p:nvPr/>
        </p:nvPicPr>
        <p:blipFill>
          <a:blip r:embed="rId1"/>
          <a:stretch>
            <a:fillRect/>
          </a:stretch>
        </p:blipFill>
        <p:spPr>
          <a:xfrm>
            <a:off x="502920" y="1268730"/>
            <a:ext cx="10949305" cy="51523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Nvidia (NVDA)</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NVDA_forecast_from_20210122_to_20251121_daily_path"/>
          <p:cNvPicPr>
            <a:picLocks noChangeAspect="1"/>
          </p:cNvPicPr>
          <p:nvPr/>
        </p:nvPicPr>
        <p:blipFill>
          <a:blip r:embed="rId1"/>
          <a:stretch>
            <a:fillRect/>
          </a:stretch>
        </p:blipFill>
        <p:spPr>
          <a:xfrm>
            <a:off x="253365" y="1316355"/>
            <a:ext cx="11057890" cy="52031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META (META)</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META_forecast_from_20180725_to_20230524_daily_path"/>
          <p:cNvPicPr>
            <a:picLocks noChangeAspect="1"/>
          </p:cNvPicPr>
          <p:nvPr/>
        </p:nvPicPr>
        <p:blipFill>
          <a:blip r:embed="rId1"/>
          <a:stretch>
            <a:fillRect/>
          </a:stretch>
        </p:blipFill>
        <p:spPr>
          <a:xfrm>
            <a:off x="411480" y="1230630"/>
            <a:ext cx="11112500" cy="52292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a:t>
            </a:r>
            <a:r>
              <a:rPr lang="en-US" altLang="en-US" sz="2600" b="1" dirty="0">
                <a:solidFill>
                  <a:srgbClr val="112033"/>
                </a:solidFill>
              </a:rPr>
              <a:t>UnitedHealth Group (UNH)</a:t>
            </a:r>
            <a:r>
              <a:rPr lang="en-US" altLang="el-GR" sz="2600" b="1" dirty="0">
                <a:solidFill>
                  <a:srgbClr val="112033"/>
                </a:solidFill>
              </a:rPr>
              <a:t> </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UNH_forecast_from_20201030_to_20250829_daily_path"/>
          <p:cNvPicPr>
            <a:picLocks noChangeAspect="1"/>
          </p:cNvPicPr>
          <p:nvPr/>
        </p:nvPicPr>
        <p:blipFill>
          <a:blip r:embed="rId1"/>
          <a:stretch>
            <a:fillRect/>
          </a:stretch>
        </p:blipFill>
        <p:spPr>
          <a:xfrm>
            <a:off x="411480" y="1315720"/>
            <a:ext cx="10790555" cy="50774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Microsoft (MSFT)</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MSFT_daily_forecast_path_from_training_end"/>
          <p:cNvPicPr>
            <a:picLocks noChangeAspect="1"/>
          </p:cNvPicPr>
          <p:nvPr/>
        </p:nvPicPr>
        <p:blipFill>
          <a:blip r:embed="rId1"/>
          <a:stretch>
            <a:fillRect/>
          </a:stretch>
        </p:blipFill>
        <p:spPr>
          <a:xfrm>
            <a:off x="502920" y="1282065"/>
            <a:ext cx="1093089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47472"/>
            <a:ext cx="9966960" cy="438912"/>
          </a:xfrm>
          <a:prstGeom prst="rect">
            <a:avLst/>
          </a:prstGeom>
          <a:noFill/>
        </p:spPr>
        <p:txBody>
          <a:bodyPr wrap="square" lIns="254" tIns="254" rIns="254" bIns="254" rtlCol="0" anchor="ctr">
            <a:normAutofit/>
          </a:bodyPr>
          <a:lstStyle/>
          <a:p>
            <a:pPr marL="0" indent="0">
              <a:buNone/>
            </a:pPr>
            <a:r>
              <a:rPr lang="en-US" sz="2600" b="1" dirty="0">
                <a:solidFill>
                  <a:srgbClr val="112033"/>
                </a:solidFill>
              </a:rPr>
              <a:t>1</a:t>
            </a:r>
            <a:r>
              <a:rPr lang="el-GR" altLang="en-US" sz="2600" b="1" dirty="0">
                <a:solidFill>
                  <a:srgbClr val="112033"/>
                </a:solidFill>
              </a:rPr>
              <a:t>4</a:t>
            </a:r>
            <a:r>
              <a:rPr lang="en-US" sz="2600" b="1" dirty="0">
                <a:solidFill>
                  <a:srgbClr val="112033"/>
                </a:solidFill>
              </a:rPr>
              <a:t>. </a:t>
            </a:r>
            <a:r>
              <a:rPr lang="el-GR" altLang="en-US" sz="2600" b="1" dirty="0">
                <a:solidFill>
                  <a:srgbClr val="112033"/>
                </a:solidFill>
              </a:rPr>
              <a:t>Αποτελέσματα</a:t>
            </a:r>
            <a:r>
              <a:rPr lang="en-US" altLang="el-GR" sz="2600" b="1" dirty="0">
                <a:solidFill>
                  <a:srgbClr val="112033"/>
                </a:solidFill>
              </a:rPr>
              <a:t> </a:t>
            </a:r>
            <a:r>
              <a:rPr lang="en-US" altLang="en-US" sz="2600" b="1" dirty="0">
                <a:solidFill>
                  <a:srgbClr val="112033"/>
                </a:solidFill>
              </a:rPr>
              <a:t>SPDR S&amp;P 500 ETF Trust (SPY)</a:t>
            </a:r>
            <a:r>
              <a:rPr lang="en-US" altLang="el-GR" sz="2600" b="1" dirty="0">
                <a:solidFill>
                  <a:srgbClr val="112033"/>
                </a:solidFill>
              </a:rPr>
              <a:t>  </a:t>
            </a:r>
            <a:endParaRPr lang="en-US" altLang="el-GR" sz="2600" b="1" dirty="0">
              <a:solidFill>
                <a:srgbClr val="112033"/>
              </a:solidFill>
            </a:endParaRPr>
          </a:p>
        </p:txBody>
      </p:sp>
      <p:sp>
        <p:nvSpPr>
          <p:cNvPr id="4" name="Shape 2"/>
          <p:cNvSpPr/>
          <p:nvPr/>
        </p:nvSpPr>
        <p:spPr>
          <a:xfrm>
            <a:off x="502920" y="1124712"/>
            <a:ext cx="1078992" cy="45720"/>
          </a:xfrm>
          <a:prstGeom prst="rect">
            <a:avLst/>
          </a:prstGeom>
          <a:solidFill>
            <a:srgbClr val="008C95"/>
          </a:solidFill>
          <a:ln w="12700">
            <a:solidFill>
              <a:srgbClr val="008C95">
                <a:alpha val="0"/>
              </a:srgbClr>
            </a:solidFill>
            <a:prstDash val="solid"/>
          </a:ln>
        </p:spPr>
      </p:sp>
      <p:sp>
        <p:nvSpPr>
          <p:cNvPr id="25" name="Text 23"/>
          <p:cNvSpPr/>
          <p:nvPr/>
        </p:nvSpPr>
        <p:spPr>
          <a:xfrm>
            <a:off x="411480" y="6537960"/>
            <a:ext cx="4114800" cy="182880"/>
          </a:xfrm>
          <a:prstGeom prst="rect">
            <a:avLst/>
          </a:prstGeom>
          <a:noFill/>
        </p:spPr>
        <p:txBody>
          <a:bodyPr wrap="square" lIns="0" tIns="0" rIns="0" bIns="0" rtlCol="0" anchor="ctr"/>
          <a:lstStyle/>
          <a:p>
            <a:pPr marL="0" indent="0">
              <a:buNone/>
            </a:pPr>
            <a:r>
              <a:rPr lang="en-US" sz="850" dirty="0">
                <a:solidFill>
                  <a:srgbClr val="7C8A9A"/>
                </a:solidFill>
              </a:rPr>
              <a:t>Stock / ETF Forecasting Project</a:t>
            </a:r>
            <a:endParaRPr lang="en-US" sz="850" dirty="0"/>
          </a:p>
        </p:txBody>
      </p:sp>
      <p:pic>
        <p:nvPicPr>
          <p:cNvPr id="3" name="Picture 2" descr="SPY_forecast_from_20200219_to_20241218_daily_path"/>
          <p:cNvPicPr>
            <a:picLocks noChangeAspect="1"/>
          </p:cNvPicPr>
          <p:nvPr/>
        </p:nvPicPr>
        <p:blipFill>
          <a:blip r:embed="rId1"/>
          <a:stretch>
            <a:fillRect/>
          </a:stretch>
        </p:blipFill>
        <p:spPr>
          <a:xfrm>
            <a:off x="283845" y="1263650"/>
            <a:ext cx="11008995" cy="51803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6838</Words>
  <Application>WPS Presentation</Application>
  <PresentationFormat>On-screen Show (16:9)</PresentationFormat>
  <Paragraphs>414</Paragraphs>
  <Slides>22</Slides>
  <Notes>15</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22</vt:i4>
      </vt:variant>
    </vt:vector>
  </HeadingPairs>
  <TitlesOfParts>
    <vt:vector size="37" baseType="lpstr">
      <vt:lpstr>Arial</vt:lpstr>
      <vt:lpstr>SimSun</vt:lpstr>
      <vt:lpstr>Wingdings</vt:lpstr>
      <vt:lpstr>Aptos</vt:lpstr>
      <vt:lpstr>Segoe UI</vt:lpstr>
      <vt:lpstr>Microsoft YaHei</vt:lpstr>
      <vt:lpstr>Arial Unicode MS</vt:lpstr>
      <vt:lpstr>MS PGothic</vt:lpstr>
      <vt:lpstr>Aptos Display</vt:lpstr>
      <vt:lpstr>Segoe UI Variable Display</vt:lpstr>
      <vt:lpstr>Aptos Display</vt:lpstr>
      <vt:lpstr>Aptos Display</vt:lpstr>
      <vt:lpstr>Calibri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ChatGPT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Πρόβλεψη Χρηματιστηριακών Τιμών με Νευρωνικά Δίκτυα</dc:title>
  <dc:creator>OpenAI</dc:creator>
  <dc:subject>Stock forecasting project presentation</dc:subject>
  <cp:lastModifiedBy>Γιωργος Κουφετιδης</cp:lastModifiedBy>
  <cp:revision>3</cp:revision>
  <dcterms:created xsi:type="dcterms:W3CDTF">2026-07-01T19:00:00Z</dcterms:created>
  <dcterms:modified xsi:type="dcterms:W3CDTF">2026-07-07T19:30:57Z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0DDF5FCABE0C4192A974F906DA4850E7_12</vt:lpwstr>
  </property>
</Properties>
</file>